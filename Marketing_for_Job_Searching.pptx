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87" r:id="rId2"/>
    <p:sldId id="288" r:id="rId3"/>
    <p:sldId id="289" r:id="rId4"/>
    <p:sldId id="290" r:id="rId5"/>
    <p:sldId id="291" r:id="rId6"/>
    <p:sldId id="292" r:id="rId7"/>
    <p:sldId id="293" r:id="rId8"/>
    <p:sldId id="294" r:id="rId9"/>
    <p:sldId id="295" r:id="rId10"/>
    <p:sldId id="296" r:id="rId11"/>
    <p:sldId id="297" r:id="rId12"/>
    <p:sldId id="298" r:id="rId13"/>
    <p:sldId id="299" r:id="rId14"/>
    <p:sldId id="300" r:id="rId15"/>
    <p:sldId id="301" r:id="rId16"/>
    <p:sldId id="302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E8B1032C-EA38-4F05-BA0D-38AFFFC7BED3}" styleName="Light Style 3 - Accent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080"/>
    <p:restoredTop sz="94150"/>
  </p:normalViewPr>
  <p:slideViewPr>
    <p:cSldViewPr snapToGrid="0" snapToObjects="1">
      <p:cViewPr varScale="1">
        <p:scale>
          <a:sx n="108" d="100"/>
          <a:sy n="108" d="100"/>
        </p:scale>
        <p:origin x="232" y="4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10AF671-4685-124D-A41D-446D235EA8CE}" type="datetimeFigureOut">
              <a:t>9/18/22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5DFC609-AB91-B841-B89F-D8507929D09E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95765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B4F27C-726C-F34D-8409-80F55E545E3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E92C0DA-692D-0D4F-A5E2-14D77E98D5B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228344-ACB5-2544-8F64-8F48AB36A9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90B581-06C6-5A4B-9E30-3EAD5667F4B3}" type="datetimeFigureOut">
              <a:rPr lang="en-US" smtClean="0"/>
              <a:t>9/18/22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482548-988C-A141-886B-1288B5E79D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C00C34-78F2-0446-AAC8-AE2EAB4C8A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87B916-9C37-1342-8860-FDF17023D9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76071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5C70C7-DB12-B444-B1B2-C48E25E412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D2DCFE-53F0-024F-A617-2BD896C61D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8859B6-E1E3-B04D-A047-8D2EC0DF4F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90B581-06C6-5A4B-9E30-3EAD5667F4B3}" type="datetimeFigureOut">
              <a:rPr lang="en-US" smtClean="0"/>
              <a:t>9/18/22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325EF9-1164-754C-8B5A-763A5AC7B8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42791D-421D-8745-9562-45793F4087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87B916-9C37-1342-8860-FDF17023D9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41453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EFF0F6-6C15-8249-BFD5-99E1F52B94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6EF16EF-BE46-664B-B253-58617527F94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2407D8-A253-D24E-A3D2-6016577AD2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90B581-06C6-5A4B-9E30-3EAD5667F4B3}" type="datetimeFigureOut">
              <a:rPr lang="en-US" smtClean="0"/>
              <a:t>9/18/22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E7AA5E3-13D0-7841-BCC6-417B0E16B8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83E12E-BCBD-B34C-92B4-7613D39B4E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87B916-9C37-1342-8860-FDF17023D9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74179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558562-4DC4-854A-BBBB-16F35B6A35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DE5C7F-96F1-4846-9EC3-8402DD6885A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488E0DC-C318-0949-AA4D-E20EF7E5D48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104ABB1-6F7E-0C41-BAD8-BF0C970465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90B581-06C6-5A4B-9E30-3EAD5667F4B3}" type="datetimeFigureOut">
              <a:rPr lang="en-US" smtClean="0"/>
              <a:t>9/18/22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FFCE178-590D-4F41-98C0-D37428175F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0570DF3-6012-7B47-B3FB-86489127C1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87B916-9C37-1342-8860-FDF17023D9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88591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BEE067-6F58-BC40-A770-31355823C9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4C284D0-F04D-1942-9055-6543BB93486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70E4A69-608C-D54B-84E7-577BA76DA8E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B012351-7762-474F-993C-C1DCC7CAF7E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E6FF6DA-38DB-F642-8582-12853CF8A64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FB3E2CD-2374-D241-A907-BDC28A29D2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90B581-06C6-5A4B-9E30-3EAD5667F4B3}" type="datetimeFigureOut">
              <a:rPr lang="en-US" smtClean="0"/>
              <a:t>9/18/22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702861F-06F7-4F4F-AE77-854CE70229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0BEB302-265A-F345-A27F-189DC71E24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87B916-9C37-1342-8860-FDF17023D9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4816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0740CE-9613-DD4B-910D-FD9367F5F4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197B97E-B666-AB4C-8895-6EFDBB1F54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90B581-06C6-5A4B-9E30-3EAD5667F4B3}" type="datetimeFigureOut">
              <a:rPr lang="en-US" smtClean="0"/>
              <a:t>9/18/22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54A0898-83AF-6B4E-A793-A75BA4A23A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B5B0A5B-EF6C-A543-AF59-5B027487CE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87B916-9C37-1342-8860-FDF17023D9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49589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EAADD5D-3B4C-FC46-A3AB-8847BEE313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90B581-06C6-5A4B-9E30-3EAD5667F4B3}" type="datetimeFigureOut">
              <a:rPr lang="en-US" smtClean="0"/>
              <a:t>9/18/22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581BCAC-3BF4-664B-A180-3CE656F105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1452949-739C-F940-990E-7C1F76905B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87B916-9C37-1342-8860-FDF17023D9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77232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B6026B-8F91-E843-929E-B8D193A417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3901C9-5D06-7446-893E-C386DE78EA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67AEFEC-6B69-9D40-BF13-C90D122DD4F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551C260-B81F-4C45-B502-D6C13CE2F0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90B581-06C6-5A4B-9E30-3EAD5667F4B3}" type="datetimeFigureOut">
              <a:rPr lang="en-US" smtClean="0"/>
              <a:t>9/18/22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D523561-E5EA-834B-85DF-19C0AC080A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CE22E99-7ABD-C545-B6B9-9FDD51D6BF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87B916-9C37-1342-8860-FDF17023D9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30877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D6A3DA-03F9-F24C-98B3-D267B4CDDA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068B0B0-4858-364A-B7CA-CA05AB1252D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2DCA157-AB94-9646-8C72-FF9ECCC5BA1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FF31188-EFC7-354D-AF12-DFD329BD05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90B581-06C6-5A4B-9E30-3EAD5667F4B3}" type="datetimeFigureOut">
              <a:rPr lang="en-US" smtClean="0"/>
              <a:t>9/18/22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115353E-B6F9-C245-8A28-1A7DA92589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60521E6-0D62-AD41-968D-6D110007BC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87B916-9C37-1342-8860-FDF17023D9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74455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82D366-7954-574E-B227-42020C5D49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CB257F7-9A11-6143-B3BE-65EA79F1EF3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A6E38A-4D17-0E45-B253-CFFA73B8A5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90B581-06C6-5A4B-9E30-3EAD5667F4B3}" type="datetimeFigureOut">
              <a:rPr lang="en-US" smtClean="0"/>
              <a:t>9/18/22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6708F96-4E3C-DD49-9DA6-E58D1E4721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D13D00-BFC8-8C4D-86CD-C22BB04A80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87B916-9C37-1342-8860-FDF17023D9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79910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59FACBD-77A5-8C49-B88D-B07B46866CC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03F7211-16D2-B54B-811F-C40782CF76D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597539-AE59-3C4F-92BD-FFD32CB14B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90B581-06C6-5A4B-9E30-3EAD5667F4B3}" type="datetimeFigureOut">
              <a:rPr lang="en-US" smtClean="0"/>
              <a:t>9/18/22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2887D4-9F35-694F-ABCC-C43262D3C4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0862F5-D353-1743-8037-74EB4E5286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87B916-9C37-1342-8860-FDF17023D9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34896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222AB8C-3B85-8246-A8C2-8FF1A99E4B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82DDD0A-B722-F14C-9538-44956897488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1C874F-E44E-BF44-9BF8-5BE6F387BE1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D90B581-06C6-5A4B-9E30-3EAD5667F4B3}" type="datetimeFigureOut">
              <a:rPr lang="en-US" smtClean="0"/>
              <a:t>9/18/22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146542-B3B2-504E-9846-81A0633DE40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49DBBE-02CA-2744-8992-09E502DE00F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987B916-9C37-1342-8860-FDF17023D9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39338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://www.cs.cmu.edu/~ppr/" TargetMode="Externa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5" Type="http://schemas.openxmlformats.org/officeDocument/2006/relationships/hyperlink" Target="https://www.facebook.com/prashantreddy" TargetMode="External"/><Relationship Id="rId4" Type="http://schemas.openxmlformats.org/officeDocument/2006/relationships/hyperlink" Target="https://www.linkedin.com/in/prashantreddy" TargetMode="Externa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hyperlink" Target="https://www.amazon.com/Raised-Myself-Failure-Success-Selling/dp/067179437X" TargetMode="External"/><Relationship Id="rId1" Type="http://schemas.openxmlformats.org/officeDocument/2006/relationships/slideLayout" Target="../slideLayouts/slideLayout7.xml"/><Relationship Id="rId4" Type="http://schemas.openxmlformats.org/officeDocument/2006/relationships/hyperlink" Target="https://www.legacy.com/us/obituaries/atlanta/name/charles-mcaliley-obituary?n=charles-mcaliley&amp;pid=86229824" TargetMode="Externa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ilovemarketing.com/" TargetMode="External"/><Relationship Id="rId2" Type="http://schemas.openxmlformats.org/officeDocument/2006/relationships/hyperlink" Target="https://en.wikipedia.org/wiki/What_Color_Is_Your_Parachute%3F" TargetMode="External"/><Relationship Id="rId1" Type="http://schemas.openxmlformats.org/officeDocument/2006/relationships/slideLayout" Target="../slideLayouts/slideLayout7.xml"/><Relationship Id="rId4" Type="http://schemas.openxmlformats.org/officeDocument/2006/relationships/hyperlink" Target="https://geniusnetwork.com/giverbook/" TargetMode="Externa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B7F35B93-487F-1D49-A679-7ACD78250CA1}"/>
              </a:ext>
            </a:extLst>
          </p:cNvPr>
          <p:cNvSpPr/>
          <p:nvPr/>
        </p:nvSpPr>
        <p:spPr>
          <a:xfrm>
            <a:off x="1272665" y="430793"/>
            <a:ext cx="9646670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4000" b="1" dirty="0">
                <a:solidFill>
                  <a:srgbClr val="00B0F0"/>
                </a:solidFill>
                <a:latin typeface="Arial" panose="020B0604020202020204" pitchFamily="34" charset="0"/>
              </a:rPr>
              <a:t>Job Searching – Marketing Yourself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2F5442C-BB92-9940-C115-1FCBB476EFE9}"/>
              </a:ext>
            </a:extLst>
          </p:cNvPr>
          <p:cNvSpPr txBox="1"/>
          <p:nvPr/>
        </p:nvSpPr>
        <p:spPr>
          <a:xfrm>
            <a:off x="2398414" y="1801780"/>
            <a:ext cx="7395172" cy="353943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/>
              <a:t>There is no stability. Average job duration was less than 2 years for a long time.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/>
              <a:t>The technologies change fast. You need to learn new stuff to be marketable. You have to change, to adapt. To </a:t>
            </a:r>
            <a:r>
              <a:rPr lang="en-US" sz="1400" b="1">
                <a:solidFill>
                  <a:srgbClr val="FF0000"/>
                </a:solidFill>
              </a:rPr>
              <a:t>educate yourself into employment</a:t>
            </a:r>
            <a:r>
              <a:rPr lang="en-US" sz="140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/>
              <a:t>You need to be </a:t>
            </a:r>
            <a:r>
              <a:rPr lang="en-US" sz="1400" b="1">
                <a:solidFill>
                  <a:srgbClr val="FF0000"/>
                </a:solidFill>
              </a:rPr>
              <a:t>on the front of the wave</a:t>
            </a:r>
            <a:r>
              <a:rPr lang="en-US" sz="1400"/>
              <a:t> to receive high rate/salary. New job types become commoditized (and salaries drop) in just few years.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/>
              <a:t>Most people don't educate themselves until they are forced to do so. So they are not increasing their salary. In fact, their effective compensation may go down, and competition increase.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/>
              <a:t>Nowadays you have to compete also against remote outsorcing to other countries and against outsourcing to computers (automation, cloud, AI)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/>
              <a:t>Many jobs are becoming extinct (for example, the number of human traders at financial companies has fallen down to about 1% of what it used to be).</a:t>
            </a:r>
          </a:p>
        </p:txBody>
      </p:sp>
    </p:spTree>
    <p:extLst>
      <p:ext uri="{BB962C8B-B14F-4D97-AF65-F5344CB8AC3E}">
        <p14:creationId xmlns:p14="http://schemas.microsoft.com/office/powerpoint/2010/main" val="29850569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55DE3DF-C323-71AE-F3A0-F60BB2BEB696}"/>
              </a:ext>
            </a:extLst>
          </p:cNvPr>
          <p:cNvSpPr txBox="1"/>
          <p:nvPr/>
        </p:nvSpPr>
        <p:spPr>
          <a:xfrm>
            <a:off x="311383" y="1315124"/>
            <a:ext cx="7634176" cy="3323987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>
                <a:solidFill>
                  <a:srgbClr val="FF0000"/>
                </a:solidFill>
              </a:rPr>
              <a:t>Strategy</a:t>
            </a:r>
            <a:r>
              <a:rPr lang="en-US" sz="1400"/>
              <a:t> is a long-term (several years) direction. A vision.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>
                <a:solidFill>
                  <a:srgbClr val="FF0000"/>
                </a:solidFill>
              </a:rPr>
              <a:t>Tactics</a:t>
            </a:r>
            <a:r>
              <a:rPr lang="en-US" sz="1400"/>
              <a:t> is short-term, specific, paying bills this month.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/>
              <a:t>People tend to concentrate on tactics and not setting long-term strategic direction.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/>
              <a:t>People tend to overestimate what they can do short term (in 3 months), and under-estimate what they can achieve long-term (in 3-5-10 years).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/>
              <a:t>You need to set a </a:t>
            </a:r>
            <a:r>
              <a:rPr lang="en-US" sz="1400" b="1">
                <a:solidFill>
                  <a:srgbClr val="FF0000"/>
                </a:solidFill>
              </a:rPr>
              <a:t>strategic direction</a:t>
            </a:r>
            <a:r>
              <a:rPr lang="en-US" sz="1400"/>
              <a:t>. For me it is new technologies (Data Science, ML &amp; AI, Crypto)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/>
              <a:t>Once you decided on your strategic direction, you need to find examples of people who you can use as </a:t>
            </a:r>
            <a:r>
              <a:rPr lang="en-US" sz="1400" b="1">
                <a:solidFill>
                  <a:srgbClr val="FF0000"/>
                </a:solidFill>
              </a:rPr>
              <a:t>role models</a:t>
            </a:r>
            <a:r>
              <a:rPr lang="en-US" sz="1400"/>
              <a:t>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>
                <a:solidFill>
                  <a:srgbClr val="FF0000"/>
                </a:solidFill>
              </a:rPr>
              <a:t>The easiest way to achieve success is to follow someone else's steps</a:t>
            </a:r>
            <a:r>
              <a:rPr lang="en-US" sz="1400"/>
              <a:t>. Venturing into a new field is like stepping on a minefield. You don't know where the mines are. But if you have someone who knows how to cross the field, then you can repeat his success simply by following his steps.</a:t>
            </a:r>
          </a:p>
          <a:p>
            <a:endParaRPr lang="en-US" sz="14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>
                <a:solidFill>
                  <a:srgbClr val="FF0000"/>
                </a:solidFill>
              </a:rPr>
              <a:t>Educate yourself.</a:t>
            </a:r>
            <a:r>
              <a:rPr lang="en-US" sz="1400"/>
              <a:t> Some knowledge you can find by searching (googling) for it. For some knowledge you should pay. But this is always a good investment.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F8B6856-2D9A-4CBF-2FDA-49E83353DC28}"/>
              </a:ext>
            </a:extLst>
          </p:cNvPr>
          <p:cNvSpPr txBox="1"/>
          <p:nvPr/>
        </p:nvSpPr>
        <p:spPr>
          <a:xfrm>
            <a:off x="0" y="0"/>
            <a:ext cx="427428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/>
              <a:t>Tactics and Strategy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3A24DCE3-4C23-4811-1DF7-AF61C316B6A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9817618" y="797442"/>
            <a:ext cx="1084077" cy="14454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398F83B0-6417-73CB-73CC-55ACA1739C07}"/>
              </a:ext>
            </a:extLst>
          </p:cNvPr>
          <p:cNvSpPr txBox="1"/>
          <p:nvPr/>
        </p:nvSpPr>
        <p:spPr>
          <a:xfrm>
            <a:off x="8527313" y="2337582"/>
            <a:ext cx="3664688" cy="31854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/>
              <a:t>Interesting example - Prashant Reddy:</a:t>
            </a:r>
            <a:br>
              <a:rPr lang="en-US" sz="1400"/>
            </a:br>
            <a:r>
              <a:rPr lang="en-US" sz="1100"/>
              <a:t> - </a:t>
            </a:r>
            <a:r>
              <a:rPr lang="en-US" sz="1100">
                <a:hlinkClick r:id="rId3"/>
              </a:rPr>
              <a:t>http://www.cs.cmu.edu/~ppr/</a:t>
            </a:r>
            <a:br>
              <a:rPr lang="en-US" sz="1100"/>
            </a:br>
            <a:r>
              <a:rPr lang="en-US" sz="1100"/>
              <a:t> - </a:t>
            </a:r>
            <a:r>
              <a:rPr lang="en-US" sz="1100">
                <a:hlinkClick r:id="rId4"/>
              </a:rPr>
              <a:t>https://www.linkedin.com/in/prashantreddy</a:t>
            </a:r>
            <a:br>
              <a:rPr lang="en-US" sz="1100"/>
            </a:br>
            <a:r>
              <a:rPr lang="en-US" sz="1100"/>
              <a:t> - </a:t>
            </a:r>
            <a:r>
              <a:rPr lang="en-US" sz="1100">
                <a:hlinkClick r:id="rId5"/>
              </a:rPr>
              <a:t>https://www.facebook.com/prashantreddy</a:t>
            </a:r>
            <a:br>
              <a:rPr lang="en-US" sz="1400"/>
            </a:br>
            <a:endParaRPr lang="en-US" sz="1400"/>
          </a:p>
          <a:p>
            <a:r>
              <a:rPr lang="en-US" sz="1400"/>
              <a:t>In ~2009 </a:t>
            </a:r>
            <a:r>
              <a:rPr lang="en-US" sz="1400" b="1">
                <a:solidFill>
                  <a:srgbClr val="FF0000"/>
                </a:solidFill>
              </a:rPr>
              <a:t>he has left his 7-figure income</a:t>
            </a:r>
            <a:r>
              <a:rPr lang="en-US" sz="1400"/>
              <a:t> at Morgan Stanley, and has become a Ph.D. student at Carnegie Mellon in the area of Machine Learning. </a:t>
            </a:r>
          </a:p>
          <a:p>
            <a:r>
              <a:rPr lang="en-US" sz="1400"/>
              <a:t>He has later gone to Google and J.P. Morgan. </a:t>
            </a:r>
          </a:p>
          <a:p>
            <a:endParaRPr lang="en-US" sz="1400"/>
          </a:p>
          <a:p>
            <a:r>
              <a:rPr lang="en-US" sz="1400"/>
              <a:t>This is a very interesting example of selecting and staying on strategic course. Usually people don't want to sacrifice their high salaries. But - he did.</a:t>
            </a:r>
          </a:p>
        </p:txBody>
      </p:sp>
    </p:spTree>
    <p:extLst>
      <p:ext uri="{BB962C8B-B14F-4D97-AF65-F5344CB8AC3E}">
        <p14:creationId xmlns:p14="http://schemas.microsoft.com/office/powerpoint/2010/main" val="15464430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7E59574-228C-092F-834A-0170F9F2C57B}"/>
              </a:ext>
            </a:extLst>
          </p:cNvPr>
          <p:cNvSpPr txBox="1"/>
          <p:nvPr/>
        </p:nvSpPr>
        <p:spPr>
          <a:xfrm>
            <a:off x="3171265" y="1740370"/>
            <a:ext cx="5592725" cy="2677656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>
                <a:solidFill>
                  <a:srgbClr val="FF0000"/>
                </a:solidFill>
              </a:rPr>
              <a:t>If you educate yourself proactively in advance: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>
                <a:solidFill>
                  <a:srgbClr val="FF0000"/>
                </a:solidFill>
              </a:rPr>
              <a:t>you will be ahead of the crowd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>
                <a:solidFill>
                  <a:srgbClr val="FF0000"/>
                </a:solidFill>
              </a:rPr>
              <a:t>You will have little or no competition - and will receive higher salary</a:t>
            </a:r>
          </a:p>
          <a:p>
            <a:endParaRPr lang="en-US" sz="1400"/>
          </a:p>
          <a:p>
            <a:r>
              <a:rPr lang="en-US" sz="1400"/>
              <a:t>Think in terms of studying in a college.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/>
              <a:t>If you learn 2 weeks in advance - you get high grades.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/>
              <a:t>If you learn 2 weeks late - you get low grades.</a:t>
            </a:r>
          </a:p>
          <a:p>
            <a:endParaRPr lang="en-US" sz="1400"/>
          </a:p>
          <a:p>
            <a:r>
              <a:rPr lang="en-US" sz="1400"/>
              <a:t>Over a period of 5 years the shift of 2 weeks is only 2/(5*50) ~ 1 percent.</a:t>
            </a:r>
          </a:p>
          <a:p>
            <a:endParaRPr lang="en-US" sz="1400"/>
          </a:p>
          <a:p>
            <a:r>
              <a:rPr lang="en-US" sz="1400"/>
              <a:t>But this 1% shift in timing may </a:t>
            </a:r>
          </a:p>
          <a:p>
            <a:r>
              <a:rPr lang="en-US" sz="1400"/>
              <a:t>result in 100% .. 500% shift in salary in real life.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5E6B90B-86CC-1127-F094-EF01FA3B8D57}"/>
              </a:ext>
            </a:extLst>
          </p:cNvPr>
          <p:cNvSpPr txBox="1"/>
          <p:nvPr/>
        </p:nvSpPr>
        <p:spPr>
          <a:xfrm>
            <a:off x="0" y="0"/>
            <a:ext cx="715571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/>
              <a:t>Educate yourself "in advance". Be proactive</a:t>
            </a:r>
          </a:p>
        </p:txBody>
      </p:sp>
    </p:spTree>
    <p:extLst>
      <p:ext uri="{BB962C8B-B14F-4D97-AF65-F5344CB8AC3E}">
        <p14:creationId xmlns:p14="http://schemas.microsoft.com/office/powerpoint/2010/main" val="76005299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C984BF7-59DE-F4CF-562F-9537F58A14A1}"/>
              </a:ext>
            </a:extLst>
          </p:cNvPr>
          <p:cNvSpPr txBox="1"/>
          <p:nvPr/>
        </p:nvSpPr>
        <p:spPr>
          <a:xfrm>
            <a:off x="1674421" y="1327619"/>
            <a:ext cx="7853916" cy="3323987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/>
              <a:t>Catch-22:</a:t>
            </a:r>
          </a:p>
          <a:p>
            <a:r>
              <a:rPr lang="en-US" sz="1400"/>
              <a:t>     to get a job you need experience,</a:t>
            </a:r>
          </a:p>
          <a:p>
            <a:r>
              <a:rPr lang="en-US" sz="1400"/>
              <a:t>     to get experience you need a job.</a:t>
            </a:r>
          </a:p>
          <a:p>
            <a:endParaRPr lang="en-US" sz="1400"/>
          </a:p>
          <a:p>
            <a:r>
              <a:rPr lang="en-US" sz="1400"/>
              <a:t>You always get this problem when you want to get a higher position.</a:t>
            </a:r>
          </a:p>
          <a:p>
            <a:r>
              <a:rPr lang="en-US" sz="1400"/>
              <a:t>For example, you want to become a manager – but you don't have management experience.</a:t>
            </a:r>
          </a:p>
          <a:p>
            <a:endParaRPr lang="en-US" sz="1400"/>
          </a:p>
          <a:p>
            <a:r>
              <a:rPr lang="en-US" sz="1400"/>
              <a:t>You always have this problem, because technologies change.</a:t>
            </a:r>
          </a:p>
          <a:p>
            <a:r>
              <a:rPr lang="en-US" sz="1400"/>
              <a:t>So next job may require technology which you haven't used on your previous job.</a:t>
            </a:r>
          </a:p>
          <a:p>
            <a:endParaRPr lang="en-US" sz="1400"/>
          </a:p>
          <a:p>
            <a:r>
              <a:rPr lang="en-US" sz="1400"/>
              <a:t>There are only two ways to break out of this catch-22 cycle:</a:t>
            </a:r>
          </a:p>
          <a:p>
            <a:r>
              <a:rPr lang="en-US" sz="1400"/>
              <a:t>      Method 1: get real experience</a:t>
            </a:r>
          </a:p>
          <a:p>
            <a:r>
              <a:rPr lang="en-US" sz="1400"/>
              <a:t>      Method 2: get some education - and convince that you are really excited and can do the job</a:t>
            </a:r>
          </a:p>
          <a:p>
            <a:endParaRPr lang="en-US" sz="1400"/>
          </a:p>
          <a:p>
            <a:r>
              <a:rPr lang="en-US" sz="1400"/>
              <a:t>In most cases I was using 2</a:t>
            </a:r>
            <a:r>
              <a:rPr lang="en-US" sz="1400" baseline="30000"/>
              <a:t>nd</a:t>
            </a:r>
            <a:r>
              <a:rPr lang="en-US" sz="1400"/>
              <a:t> method.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A254459-278E-89C9-3219-EECDCEDAEEE2}"/>
              </a:ext>
            </a:extLst>
          </p:cNvPr>
          <p:cNvSpPr txBox="1"/>
          <p:nvPr/>
        </p:nvSpPr>
        <p:spPr>
          <a:xfrm>
            <a:off x="0" y="0"/>
            <a:ext cx="167442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/>
              <a:t>Catch-22</a:t>
            </a:r>
          </a:p>
        </p:txBody>
      </p:sp>
    </p:spTree>
    <p:extLst>
      <p:ext uri="{BB962C8B-B14F-4D97-AF65-F5344CB8AC3E}">
        <p14:creationId xmlns:p14="http://schemas.microsoft.com/office/powerpoint/2010/main" val="168810608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C61C9E5-9CC3-3202-1EC0-CD9CBE001282}"/>
              </a:ext>
            </a:extLst>
          </p:cNvPr>
          <p:cNvSpPr txBox="1"/>
          <p:nvPr/>
        </p:nvSpPr>
        <p:spPr>
          <a:xfrm>
            <a:off x="457200" y="1212111"/>
            <a:ext cx="5256028" cy="2677656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/>
              <a:t>I had a friend who always felt that he needs to study more.</a:t>
            </a:r>
          </a:p>
          <a:p>
            <a:r>
              <a:rPr lang="en-US" sz="1400"/>
              <a:t>To get more courses, more certifications.</a:t>
            </a:r>
          </a:p>
          <a:p>
            <a:endParaRPr lang="en-US" sz="1400"/>
          </a:p>
          <a:p>
            <a:r>
              <a:rPr lang="en-US" sz="1400"/>
              <a:t>But if you don't go out and do the interviews, nothing happens.</a:t>
            </a:r>
          </a:p>
          <a:p>
            <a:endParaRPr lang="en-US" sz="1400"/>
          </a:p>
          <a:p>
            <a:r>
              <a:rPr lang="en-US" sz="1400"/>
              <a:t>Suppose you have studied for 3 months and now you are 70% ready.</a:t>
            </a:r>
          </a:p>
          <a:p>
            <a:r>
              <a:rPr lang="en-US" sz="1400"/>
              <a:t>If you study for another 3 months - you may be 75% ready.</a:t>
            </a:r>
          </a:p>
          <a:p>
            <a:r>
              <a:rPr lang="en-US" sz="1400"/>
              <a:t>But if you instead spend this time on going on interviews,</a:t>
            </a:r>
          </a:p>
          <a:p>
            <a:r>
              <a:rPr lang="en-US" sz="1400"/>
              <a:t>you would probably get a job by now.</a:t>
            </a:r>
          </a:p>
          <a:p>
            <a:endParaRPr lang="en-US" sz="1400"/>
          </a:p>
          <a:p>
            <a:r>
              <a:rPr lang="en-US" sz="1400"/>
              <a:t>More studying will increase your chances by 5%.</a:t>
            </a:r>
          </a:p>
          <a:p>
            <a:r>
              <a:rPr lang="en-US" sz="1400"/>
              <a:t>More interviewing will increase your chances by 100%.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A77AD1F-138E-D35F-73BC-06924B737186}"/>
              </a:ext>
            </a:extLst>
          </p:cNvPr>
          <p:cNvSpPr txBox="1"/>
          <p:nvPr/>
        </p:nvSpPr>
        <p:spPr>
          <a:xfrm>
            <a:off x="7072308" y="1212111"/>
            <a:ext cx="3965945" cy="2246769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/>
              <a:t>I knew a guy who was absolutely useless at work,</a:t>
            </a:r>
          </a:p>
          <a:p>
            <a:r>
              <a:rPr lang="en-US" sz="1400"/>
              <a:t>but he was complaining that he is not paid enough,</a:t>
            </a:r>
          </a:p>
          <a:p>
            <a:r>
              <a:rPr lang="en-US" sz="1400"/>
              <a:t>so he was constantly going on interviews.</a:t>
            </a:r>
          </a:p>
          <a:p>
            <a:endParaRPr lang="en-US" sz="1400"/>
          </a:p>
          <a:p>
            <a:r>
              <a:rPr lang="en-US" sz="1400"/>
              <a:t>Result - he was getting high-paying jobs.</a:t>
            </a:r>
          </a:p>
          <a:p>
            <a:r>
              <a:rPr lang="en-US" sz="1400"/>
              <a:t>And adding them to his resume.</a:t>
            </a:r>
          </a:p>
          <a:p>
            <a:endParaRPr lang="en-US" sz="1400"/>
          </a:p>
          <a:p>
            <a:r>
              <a:rPr lang="en-US" sz="1400"/>
              <a:t>So he was paid more than people around him.</a:t>
            </a:r>
          </a:p>
          <a:p>
            <a:r>
              <a:rPr lang="en-US" sz="1400"/>
              <a:t>But - he was useless at work, not productive.</a:t>
            </a:r>
          </a:p>
          <a:p>
            <a:endParaRPr lang="en-US" sz="140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6443121-1BFB-E590-F379-653C549DBF6C}"/>
              </a:ext>
            </a:extLst>
          </p:cNvPr>
          <p:cNvSpPr txBox="1"/>
          <p:nvPr/>
        </p:nvSpPr>
        <p:spPr>
          <a:xfrm>
            <a:off x="4369983" y="4508204"/>
            <a:ext cx="4348716" cy="181588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/>
              <a:t>Those who study - don't get jobs.</a:t>
            </a:r>
          </a:p>
          <a:p>
            <a:endParaRPr lang="en-US" sz="1400"/>
          </a:p>
          <a:p>
            <a:r>
              <a:rPr lang="en-US" sz="1400"/>
              <a:t>Those who go on interviews - get jobs and earn more.</a:t>
            </a:r>
          </a:p>
          <a:p>
            <a:endParaRPr lang="en-US" sz="1400"/>
          </a:p>
          <a:p>
            <a:r>
              <a:rPr lang="en-US" sz="1400"/>
              <a:t>Note that once you get a job - you will learn new stuff</a:t>
            </a:r>
          </a:p>
          <a:p>
            <a:r>
              <a:rPr lang="en-US" sz="1400"/>
              <a:t>on the job while getting paid.</a:t>
            </a:r>
          </a:p>
          <a:p>
            <a:endParaRPr lang="en-US" sz="1400"/>
          </a:p>
          <a:p>
            <a:r>
              <a:rPr lang="en-US" sz="1400"/>
              <a:t>So, do not procrastinate - just get a job.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927A8C0-D185-936C-BD50-FF94E307F00A}"/>
              </a:ext>
            </a:extLst>
          </p:cNvPr>
          <p:cNvSpPr txBox="1"/>
          <p:nvPr/>
        </p:nvSpPr>
        <p:spPr>
          <a:xfrm>
            <a:off x="0" y="0"/>
            <a:ext cx="636517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/>
              <a:t>Stop studying – and start interviewing</a:t>
            </a:r>
          </a:p>
        </p:txBody>
      </p:sp>
    </p:spTree>
    <p:extLst>
      <p:ext uri="{BB962C8B-B14F-4D97-AF65-F5344CB8AC3E}">
        <p14:creationId xmlns:p14="http://schemas.microsoft.com/office/powerpoint/2010/main" val="349629235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D5E514B-D36E-713A-3833-553F76A9E340}"/>
              </a:ext>
            </a:extLst>
          </p:cNvPr>
          <p:cNvSpPr txBox="1"/>
          <p:nvPr/>
        </p:nvSpPr>
        <p:spPr>
          <a:xfrm>
            <a:off x="3147237" y="1392865"/>
            <a:ext cx="4892357" cy="353943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/>
              <a:t>You need to accept the fact that during the interview</a:t>
            </a:r>
          </a:p>
          <a:p>
            <a:r>
              <a:rPr lang="en-US" sz="1400"/>
              <a:t>there will be questions which you will not know the answers to.</a:t>
            </a:r>
          </a:p>
          <a:p>
            <a:endParaRPr lang="en-US" sz="1400"/>
          </a:p>
          <a:p>
            <a:r>
              <a:rPr lang="en-US" sz="1400"/>
              <a:t>You can never prepare for everything.</a:t>
            </a:r>
          </a:p>
          <a:p>
            <a:r>
              <a:rPr lang="en-US" sz="1400"/>
              <a:t>Never.</a:t>
            </a:r>
          </a:p>
          <a:p>
            <a:r>
              <a:rPr lang="en-US" sz="1400"/>
              <a:t>Just accept that.</a:t>
            </a:r>
          </a:p>
          <a:p>
            <a:endParaRPr lang="en-US" sz="1400"/>
          </a:p>
          <a:p>
            <a:r>
              <a:rPr lang="en-US" sz="1400"/>
              <a:t>Look at interviews as a learning experience.</a:t>
            </a:r>
          </a:p>
          <a:p>
            <a:r>
              <a:rPr lang="en-US" sz="1400"/>
              <a:t>Ask questions, take notes, write down terms,</a:t>
            </a:r>
          </a:p>
          <a:p>
            <a:r>
              <a:rPr lang="en-US" sz="1400"/>
              <a:t>then go home and google them, learn about them,</a:t>
            </a:r>
          </a:p>
          <a:p>
            <a:r>
              <a:rPr lang="en-US" sz="1400"/>
              <a:t>maybe add to your resume.</a:t>
            </a:r>
          </a:p>
          <a:p>
            <a:endParaRPr lang="en-US" sz="1400"/>
          </a:p>
          <a:p>
            <a:r>
              <a:rPr lang="en-US" sz="1400"/>
              <a:t>Going on interviews is like a free education.</a:t>
            </a:r>
          </a:p>
          <a:p>
            <a:r>
              <a:rPr lang="en-US" sz="1400"/>
              <a:t>You meet with experienced high-paid professionals</a:t>
            </a:r>
          </a:p>
          <a:p>
            <a:r>
              <a:rPr lang="en-US" sz="1400"/>
              <a:t>who talk and ask questions about your area of interest.</a:t>
            </a:r>
          </a:p>
          <a:p>
            <a:r>
              <a:rPr lang="en-US" sz="1400" b="1">
                <a:solidFill>
                  <a:srgbClr val="FF0000"/>
                </a:solidFill>
              </a:rPr>
              <a:t>This is a great opportunity to learn from them</a:t>
            </a:r>
            <a:r>
              <a:rPr lang="en-US" sz="1400"/>
              <a:t>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48278D6-B921-3A1E-E13A-CC810685C720}"/>
              </a:ext>
            </a:extLst>
          </p:cNvPr>
          <p:cNvSpPr txBox="1"/>
          <p:nvPr/>
        </p:nvSpPr>
        <p:spPr>
          <a:xfrm>
            <a:off x="6215" y="0"/>
            <a:ext cx="4708289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/>
              <a:t>Interview is NOT a test,</a:t>
            </a:r>
          </a:p>
          <a:p>
            <a:r>
              <a:rPr lang="en-US" sz="2800" b="1"/>
              <a:t>but an educational session</a:t>
            </a:r>
          </a:p>
        </p:txBody>
      </p:sp>
    </p:spTree>
    <p:extLst>
      <p:ext uri="{BB962C8B-B14F-4D97-AF65-F5344CB8AC3E}">
        <p14:creationId xmlns:p14="http://schemas.microsoft.com/office/powerpoint/2010/main" val="60966155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D5E514B-D36E-713A-3833-553F76A9E340}"/>
              </a:ext>
            </a:extLst>
          </p:cNvPr>
          <p:cNvSpPr txBox="1"/>
          <p:nvPr/>
        </p:nvSpPr>
        <p:spPr>
          <a:xfrm>
            <a:off x="626906" y="1269417"/>
            <a:ext cx="6462663" cy="353943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/>
              <a:t>Interview is the transfer of energy.</a:t>
            </a:r>
          </a:p>
          <a:p>
            <a:endParaRPr lang="en-US" sz="1400"/>
          </a:p>
          <a:p>
            <a:r>
              <a:rPr lang="en-US" sz="1400"/>
              <a:t>You must have energy, excitement.</a:t>
            </a:r>
          </a:p>
          <a:p>
            <a:endParaRPr lang="en-US" sz="1400"/>
          </a:p>
          <a:p>
            <a:r>
              <a:rPr lang="en-US" sz="1400" b="1">
                <a:solidFill>
                  <a:srgbClr val="FF0000"/>
                </a:solidFill>
              </a:rPr>
              <a:t>Your top-paying skills are NOT your technical skills, but your enthusiasm.</a:t>
            </a:r>
          </a:p>
          <a:p>
            <a:endParaRPr lang="en-US" sz="1400"/>
          </a:p>
          <a:p>
            <a:r>
              <a:rPr lang="en-US" sz="1400"/>
              <a:t>I have learned this lesson almost 20 years ago from Charly McAliley</a:t>
            </a:r>
          </a:p>
          <a:p>
            <a:r>
              <a:rPr lang="en-US" sz="1400"/>
              <a:t>He was making $300/hour when I was making $115/hour.</a:t>
            </a:r>
          </a:p>
          <a:p>
            <a:endParaRPr lang="en-US" sz="1400"/>
          </a:p>
          <a:p>
            <a:r>
              <a:rPr lang="en-US" sz="1400"/>
              <a:t>He has explained to me </a:t>
            </a:r>
            <a:r>
              <a:rPr lang="en-US" sz="1400" b="1">
                <a:solidFill>
                  <a:srgbClr val="FF0000"/>
                </a:solidFill>
              </a:rPr>
              <a:t>why he was paid much more</a:t>
            </a:r>
            <a:r>
              <a:rPr lang="en-US" sz="1400"/>
              <a:t>.</a:t>
            </a:r>
          </a:p>
          <a:p>
            <a:r>
              <a:rPr lang="en-US" sz="1400"/>
              <a:t>It was quite eye opening.</a:t>
            </a:r>
          </a:p>
          <a:p>
            <a:endParaRPr lang="en-US" sz="1400"/>
          </a:p>
          <a:p>
            <a:r>
              <a:rPr lang="en-US" sz="1400"/>
              <a:t>Same idea is explained very well in this famous book:</a:t>
            </a:r>
          </a:p>
          <a:p>
            <a:r>
              <a:rPr lang="en-US" sz="1400"/>
              <a:t>"</a:t>
            </a:r>
            <a:r>
              <a:rPr lang="en-US" sz="1400" b="1">
                <a:solidFill>
                  <a:srgbClr val="FF0000"/>
                </a:solidFill>
              </a:rPr>
              <a:t>How I Raised Myself from Failure to Success in Selling</a:t>
            </a:r>
            <a:r>
              <a:rPr lang="en-US" sz="1400"/>
              <a:t>"</a:t>
            </a:r>
          </a:p>
          <a:p>
            <a:r>
              <a:rPr lang="en-US" sz="1400"/>
              <a:t>by Frank Bettger</a:t>
            </a:r>
          </a:p>
          <a:p>
            <a:r>
              <a:rPr lang="en-US" sz="1400"/>
              <a:t>.. </a:t>
            </a:r>
            <a:r>
              <a:rPr lang="en-US" sz="1400">
                <a:hlinkClick r:id="rId2"/>
              </a:rPr>
              <a:t>https://www.amazon.com/Raised-Myself-Failure-Success-Selling/dp/067179437X</a:t>
            </a:r>
            <a:endParaRPr lang="en-US" sz="140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6F29D9E-F818-C090-7B86-DD129D0DAA05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510204" y="1493578"/>
            <a:ext cx="2122871" cy="2461733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96207191-A7F9-84F3-B8F5-5B258E202D33}"/>
              </a:ext>
            </a:extLst>
          </p:cNvPr>
          <p:cNvSpPr txBox="1"/>
          <p:nvPr/>
        </p:nvSpPr>
        <p:spPr>
          <a:xfrm>
            <a:off x="7868094" y="3955311"/>
            <a:ext cx="4068726" cy="9848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/>
              <a:t>                 Charly McAliley</a:t>
            </a:r>
          </a:p>
          <a:p>
            <a:r>
              <a:rPr lang="en-US" sz="1100"/>
              <a:t> - </a:t>
            </a:r>
            <a:r>
              <a:rPr lang="en-US" sz="1100">
                <a:hlinkClick r:id="rId4"/>
              </a:rPr>
              <a:t>https://www.legacy.com/us/obituaries/atlanta/name/charles-mcaliley-obituary?n=charles-mcaliley&amp;pid=86229824</a:t>
            </a:r>
            <a:endParaRPr lang="en-US" sz="1100"/>
          </a:p>
          <a:p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9BE63AC-F9B6-588D-6E5F-A712D702CA6F}"/>
              </a:ext>
            </a:extLst>
          </p:cNvPr>
          <p:cNvSpPr txBox="1"/>
          <p:nvPr/>
        </p:nvSpPr>
        <p:spPr>
          <a:xfrm>
            <a:off x="95003" y="83127"/>
            <a:ext cx="574765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/>
              <a:t>Interview is the transfer of energy</a:t>
            </a:r>
          </a:p>
        </p:txBody>
      </p:sp>
    </p:spTree>
    <p:extLst>
      <p:ext uri="{BB962C8B-B14F-4D97-AF65-F5344CB8AC3E}">
        <p14:creationId xmlns:p14="http://schemas.microsoft.com/office/powerpoint/2010/main" val="281309164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D5E514B-D36E-713A-3833-553F76A9E340}"/>
              </a:ext>
            </a:extLst>
          </p:cNvPr>
          <p:cNvSpPr txBox="1"/>
          <p:nvPr/>
        </p:nvSpPr>
        <p:spPr>
          <a:xfrm>
            <a:off x="2094199" y="801169"/>
            <a:ext cx="7916700" cy="5693866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/>
              <a:t>It is much easier to pass the interview for skills/technologies which is NEW.</a:t>
            </a:r>
          </a:p>
          <a:p>
            <a:endParaRPr lang="en-US" sz="1400"/>
          </a:p>
          <a:p>
            <a:r>
              <a:rPr lang="en-US" sz="1400"/>
              <a:t>The older is the technology - the stronger the competition, </a:t>
            </a:r>
          </a:p>
          <a:p>
            <a:r>
              <a:rPr lang="en-US" sz="1400"/>
              <a:t>and more detailed and difficult is the interview. </a:t>
            </a:r>
          </a:p>
          <a:p>
            <a:endParaRPr lang="en-US" sz="1400"/>
          </a:p>
          <a:p>
            <a:r>
              <a:rPr lang="en-US" sz="1400"/>
              <a:t>But for a new technology you can pass the interview </a:t>
            </a:r>
          </a:p>
          <a:p>
            <a:r>
              <a:rPr lang="en-US" sz="1400"/>
              <a:t>by simply talking in general terms.</a:t>
            </a:r>
          </a:p>
          <a:p>
            <a:endParaRPr lang="en-US" sz="1400"/>
          </a:p>
          <a:p>
            <a:r>
              <a:rPr lang="en-US" sz="1400"/>
              <a:t>Think about it.</a:t>
            </a:r>
          </a:p>
          <a:p>
            <a:r>
              <a:rPr lang="en-US" sz="1400"/>
              <a:t>Managers need a specialist in a new technology.</a:t>
            </a:r>
          </a:p>
          <a:p>
            <a:r>
              <a:rPr lang="en-US" sz="1400"/>
              <a:t>They have a problem/headache which they can not resolve themselves.</a:t>
            </a:r>
          </a:p>
          <a:p>
            <a:r>
              <a:rPr lang="en-US" sz="1400"/>
              <a:t>They don't know this technology themselves.</a:t>
            </a:r>
          </a:p>
          <a:p>
            <a:r>
              <a:rPr lang="en-US" sz="1400" b="1">
                <a:solidFill>
                  <a:srgbClr val="FF0000"/>
                </a:solidFill>
              </a:rPr>
              <a:t>And they have difficulty finding specialists.</a:t>
            </a:r>
          </a:p>
          <a:p>
            <a:endParaRPr lang="en-US" sz="1400"/>
          </a:p>
          <a:p>
            <a:r>
              <a:rPr lang="en-US" sz="1400"/>
              <a:t>Sometimes if you demonstrate that you are really excited about this new technology,</a:t>
            </a:r>
          </a:p>
          <a:p>
            <a:r>
              <a:rPr lang="en-US" sz="1400"/>
              <a:t>it is enough toget hired.</a:t>
            </a:r>
          </a:p>
          <a:p>
            <a:r>
              <a:rPr lang="en-US" sz="1400"/>
              <a:t>And if you know the basics (what it is, terminology, people, vendors, tools, use cases, ...), your chances are very high.</a:t>
            </a:r>
          </a:p>
          <a:p>
            <a:endParaRPr lang="en-US" sz="1400"/>
          </a:p>
          <a:p>
            <a:r>
              <a:rPr lang="en-US" sz="1400"/>
              <a:t>So here is the formula:</a:t>
            </a:r>
          </a:p>
          <a:p>
            <a:r>
              <a:rPr lang="en-US" sz="1400"/>
              <a:t>  - do research - find new and in high-demand skills</a:t>
            </a:r>
          </a:p>
          <a:p>
            <a:r>
              <a:rPr lang="en-US" sz="1400"/>
              <a:t>  - learn basics - terminology (dictionary), ... to be able</a:t>
            </a:r>
          </a:p>
          <a:p>
            <a:r>
              <a:rPr lang="en-US" sz="1400"/>
              <a:t>to answer basic questions. This takes 1-60 days depending on complexity.</a:t>
            </a:r>
          </a:p>
          <a:p>
            <a:endParaRPr lang="en-US" sz="1400"/>
          </a:p>
          <a:p>
            <a:r>
              <a:rPr lang="en-US" sz="1400"/>
              <a:t>This will allow you to pass the interview.</a:t>
            </a:r>
          </a:p>
          <a:p>
            <a:r>
              <a:rPr lang="en-US" sz="1400"/>
              <a:t>And then in 3 months on the job you will get real experience!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6E9E851-1E4A-EE84-5DDA-193128BCB6A4}"/>
              </a:ext>
            </a:extLst>
          </p:cNvPr>
          <p:cNvSpPr txBox="1"/>
          <p:nvPr/>
        </p:nvSpPr>
        <p:spPr>
          <a:xfrm>
            <a:off x="83128" y="0"/>
            <a:ext cx="916209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/>
              <a:t>It is much easier to pass the interview for </a:t>
            </a:r>
            <a:r>
              <a:rPr lang="en-US" sz="2800" b="1">
                <a:solidFill>
                  <a:srgbClr val="FF0000"/>
                </a:solidFill>
              </a:rPr>
              <a:t>new</a:t>
            </a:r>
            <a:r>
              <a:rPr lang="en-US" sz="2800" b="1"/>
              <a:t> technologies</a:t>
            </a:r>
          </a:p>
        </p:txBody>
      </p:sp>
    </p:spTree>
    <p:extLst>
      <p:ext uri="{BB962C8B-B14F-4D97-AF65-F5344CB8AC3E}">
        <p14:creationId xmlns:p14="http://schemas.microsoft.com/office/powerpoint/2010/main" val="189624055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D5E514B-D36E-713A-3833-553F76A9E340}"/>
              </a:ext>
            </a:extLst>
          </p:cNvPr>
          <p:cNvSpPr txBox="1"/>
          <p:nvPr/>
        </p:nvSpPr>
        <p:spPr>
          <a:xfrm>
            <a:off x="2424222" y="1551563"/>
            <a:ext cx="6900531" cy="3754874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/>
              <a:t>Do NOT be afraid of learning new stuff.</a:t>
            </a:r>
          </a:p>
          <a:p>
            <a:endParaRPr lang="en-US" sz="1400"/>
          </a:p>
          <a:p>
            <a:r>
              <a:rPr lang="en-US" sz="1400"/>
              <a:t>Do NOT try to grow incrementally from your previous experience.</a:t>
            </a:r>
          </a:p>
          <a:p>
            <a:r>
              <a:rPr lang="en-US" sz="1400"/>
              <a:t>Rather make your research, find what is needed - and pull yourself to it.</a:t>
            </a:r>
          </a:p>
          <a:p>
            <a:endParaRPr lang="en-US" sz="1400"/>
          </a:p>
          <a:p>
            <a:r>
              <a:rPr lang="en-US" sz="1400"/>
              <a:t>Most people define themselves by their prior experience.</a:t>
            </a:r>
          </a:p>
          <a:p>
            <a:r>
              <a:rPr lang="en-US" sz="1400"/>
              <a:t>This is a huge mistake.</a:t>
            </a:r>
          </a:p>
          <a:p>
            <a:endParaRPr lang="en-US" sz="1400"/>
          </a:p>
          <a:p>
            <a:r>
              <a:rPr lang="en-US" sz="1400"/>
              <a:t>Because the progress is disruptive.</a:t>
            </a:r>
          </a:p>
          <a:p>
            <a:r>
              <a:rPr lang="en-US" sz="1400"/>
              <a:t>In order to make space for new stuff - you need to get rid of old stuff.</a:t>
            </a:r>
          </a:p>
          <a:p>
            <a:endParaRPr lang="en-US" sz="1400"/>
          </a:p>
          <a:p>
            <a:r>
              <a:rPr lang="en-US" sz="1400"/>
              <a:t>It is possible (in fact it is easy) to re-define and re-position yourself in just few months.</a:t>
            </a:r>
          </a:p>
          <a:p>
            <a:endParaRPr lang="en-US" sz="1400"/>
          </a:p>
          <a:p>
            <a:r>
              <a:rPr lang="en-US" sz="1400"/>
              <a:t>Remember - you don't need to become a true experienced specialist.</a:t>
            </a:r>
          </a:p>
          <a:p>
            <a:endParaRPr lang="en-US" sz="1400"/>
          </a:p>
          <a:p>
            <a:r>
              <a:rPr lang="en-US" sz="1400"/>
              <a:t>You just need to become a "reporter" who knows about the subject,</a:t>
            </a:r>
          </a:p>
          <a:p>
            <a:r>
              <a:rPr lang="en-US" sz="1400"/>
              <a:t>can navigate terminology, and demonstrate excitement.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338F895-A9FB-D9BA-5F6B-CE97205522DD}"/>
              </a:ext>
            </a:extLst>
          </p:cNvPr>
          <p:cNvSpPr txBox="1"/>
          <p:nvPr/>
        </p:nvSpPr>
        <p:spPr>
          <a:xfrm>
            <a:off x="118753" y="95003"/>
            <a:ext cx="717269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/>
              <a:t>You can not move forward while looking back</a:t>
            </a:r>
          </a:p>
        </p:txBody>
      </p:sp>
    </p:spTree>
    <p:extLst>
      <p:ext uri="{BB962C8B-B14F-4D97-AF65-F5344CB8AC3E}">
        <p14:creationId xmlns:p14="http://schemas.microsoft.com/office/powerpoint/2010/main" val="171055976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DDDD226-B10E-1BC2-FF21-85672A252E44}"/>
              </a:ext>
            </a:extLst>
          </p:cNvPr>
          <p:cNvSpPr txBox="1"/>
          <p:nvPr/>
        </p:nvSpPr>
        <p:spPr>
          <a:xfrm>
            <a:off x="3162795" y="1472715"/>
            <a:ext cx="5677786" cy="5047536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 b="1">
                <a:solidFill>
                  <a:srgbClr val="FF0000"/>
                </a:solidFill>
              </a:rPr>
              <a:t>Position yourself as "obvious expert" </a:t>
            </a:r>
            <a:r>
              <a:rPr lang="en-US" sz="1400"/>
              <a:t>so that people can find you.</a:t>
            </a:r>
          </a:p>
          <a:p>
            <a:endParaRPr lang="en-US" sz="1400"/>
          </a:p>
          <a:p>
            <a:r>
              <a:rPr lang="en-US" sz="1400" b="1">
                <a:solidFill>
                  <a:srgbClr val="00B050"/>
                </a:solidFill>
              </a:rPr>
              <a:t>Publish materials on your subject:</a:t>
            </a:r>
          </a:p>
          <a:p>
            <a:r>
              <a:rPr lang="en-US" sz="1400"/>
              <a:t>  - book(s), articles, posts</a:t>
            </a:r>
          </a:p>
          <a:p>
            <a:r>
              <a:rPr lang="en-US" sz="1400"/>
              <a:t>  - youtube videos, podcasts, other social media</a:t>
            </a:r>
          </a:p>
          <a:p>
            <a:r>
              <a:rPr lang="en-US" sz="1400"/>
              <a:t>  - LinkedIn posts, articles, etc.</a:t>
            </a:r>
          </a:p>
          <a:p>
            <a:r>
              <a:rPr lang="en-US" sz="1400"/>
              <a:t>  - courses</a:t>
            </a:r>
          </a:p>
          <a:p>
            <a:r>
              <a:rPr lang="en-US" sz="1400"/>
              <a:t>  - conferences (videos, abstracts)</a:t>
            </a:r>
          </a:p>
          <a:p>
            <a:r>
              <a:rPr lang="en-US" sz="1400"/>
              <a:t>  - GitHub</a:t>
            </a:r>
          </a:p>
          <a:p>
            <a:r>
              <a:rPr lang="en-US" sz="1400"/>
              <a:t>  - etc.</a:t>
            </a:r>
          </a:p>
          <a:p>
            <a:endParaRPr lang="en-US" sz="1400"/>
          </a:p>
          <a:p>
            <a:r>
              <a:rPr lang="en-US" sz="1400">
                <a:solidFill>
                  <a:srgbClr val="00B050"/>
                </a:solidFill>
              </a:rPr>
              <a:t>Most people never do that.</a:t>
            </a:r>
          </a:p>
          <a:p>
            <a:r>
              <a:rPr lang="en-US" sz="1400">
                <a:solidFill>
                  <a:srgbClr val="00B050"/>
                </a:solidFill>
              </a:rPr>
              <a:t>So by doing this you immediately put yourself in the top 0.01%</a:t>
            </a:r>
          </a:p>
          <a:p>
            <a:r>
              <a:rPr lang="en-US" sz="1400"/>
              <a:t>and way ahead of the competition.</a:t>
            </a:r>
          </a:p>
          <a:p>
            <a:r>
              <a:rPr lang="en-US" sz="1400"/>
              <a:t>(I am guilty of not doing this enough myself.)</a:t>
            </a:r>
          </a:p>
          <a:p>
            <a:endParaRPr lang="en-US" sz="1400"/>
          </a:p>
          <a:p>
            <a:r>
              <a:rPr lang="en-US" sz="1400"/>
              <a:t>Teaching others is a great way to educate yourself.</a:t>
            </a:r>
          </a:p>
          <a:p>
            <a:r>
              <a:rPr lang="en-US" sz="1400"/>
              <a:t>Become an educator, an evangelist of new stuff.</a:t>
            </a:r>
          </a:p>
          <a:p>
            <a:endParaRPr lang="en-US" sz="1400"/>
          </a:p>
          <a:p>
            <a:r>
              <a:rPr lang="en-US" sz="1400" b="1">
                <a:solidFill>
                  <a:srgbClr val="FF0000"/>
                </a:solidFill>
              </a:rPr>
              <a:t>It is easier to learn new stuff together.</a:t>
            </a:r>
          </a:p>
          <a:p>
            <a:r>
              <a:rPr lang="en-US" sz="1400"/>
              <a:t>Over the years I have done it in various ways:</a:t>
            </a:r>
          </a:p>
          <a:p>
            <a:r>
              <a:rPr lang="en-US" sz="1400"/>
              <a:t> - Learning together (book reading club, courses, ... )</a:t>
            </a:r>
          </a:p>
          <a:p>
            <a:r>
              <a:rPr lang="en-US" sz="1400"/>
              <a:t> - Making presentations - and publish (website, blog, github, youtube, ...)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AFF3C67-78E6-52DB-94CC-9482D0A9AB2E}"/>
              </a:ext>
            </a:extLst>
          </p:cNvPr>
          <p:cNvSpPr txBox="1"/>
          <p:nvPr/>
        </p:nvSpPr>
        <p:spPr>
          <a:xfrm>
            <a:off x="95003" y="106878"/>
            <a:ext cx="5677787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/>
              <a:t>Market yourself by your positioning, </a:t>
            </a:r>
          </a:p>
          <a:p>
            <a:r>
              <a:rPr lang="en-US" sz="2800" b="1"/>
              <a:t>not by chasing opportunities</a:t>
            </a:r>
          </a:p>
        </p:txBody>
      </p:sp>
    </p:spTree>
    <p:extLst>
      <p:ext uri="{BB962C8B-B14F-4D97-AF65-F5344CB8AC3E}">
        <p14:creationId xmlns:p14="http://schemas.microsoft.com/office/powerpoint/2010/main" val="366690725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3EA4BE2-331E-CA0F-680F-C19D885C988E}"/>
              </a:ext>
            </a:extLst>
          </p:cNvPr>
          <p:cNvSpPr txBox="1"/>
          <p:nvPr/>
        </p:nvSpPr>
        <p:spPr>
          <a:xfrm>
            <a:off x="2752866" y="1937888"/>
            <a:ext cx="7272670" cy="353943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/>
              <a:t>Looking for a job is all about time management.</a:t>
            </a:r>
          </a:p>
          <a:p>
            <a:endParaRPr lang="en-US" sz="1400"/>
          </a:p>
          <a:p>
            <a:r>
              <a:rPr lang="en-US" sz="1400"/>
              <a:t>You need to create your marketing funnel.</a:t>
            </a:r>
          </a:p>
          <a:p>
            <a:r>
              <a:rPr lang="en-US" sz="1400"/>
              <a:t>  N1 people found you</a:t>
            </a:r>
          </a:p>
          <a:p>
            <a:r>
              <a:rPr lang="en-US" sz="1400"/>
              <a:t>  N2 people contacted you for preliminary conversation</a:t>
            </a:r>
          </a:p>
          <a:p>
            <a:r>
              <a:rPr lang="en-US" sz="1400"/>
              <a:t>  N3 people submitted you for a job</a:t>
            </a:r>
          </a:p>
          <a:p>
            <a:r>
              <a:rPr lang="en-US" sz="1400"/>
              <a:t>  N4 companies decided to invite you for an interview</a:t>
            </a:r>
          </a:p>
          <a:p>
            <a:r>
              <a:rPr lang="en-US" sz="1400"/>
              <a:t>  N5 companies decided to invite to 2nd, ... interview</a:t>
            </a:r>
          </a:p>
          <a:p>
            <a:r>
              <a:rPr lang="en-US" sz="1400"/>
              <a:t>  N6 companies gave you a job offer</a:t>
            </a:r>
          </a:p>
          <a:p>
            <a:endParaRPr lang="en-US" sz="1400"/>
          </a:p>
          <a:p>
            <a:r>
              <a:rPr lang="en-US" sz="1400"/>
              <a:t>Apparently N1 &gt;&gt; N2 &gt; N3 ... &gt; N6</a:t>
            </a:r>
          </a:p>
          <a:p>
            <a:endParaRPr lang="en-US" sz="1400"/>
          </a:p>
          <a:p>
            <a:r>
              <a:rPr lang="en-US" sz="1400"/>
              <a:t>So majority of your time will be spent on N1, N2 - unless you will find a way to effectively automate it.</a:t>
            </a:r>
          </a:p>
          <a:p>
            <a:endParaRPr lang="en-US" sz="1400"/>
          </a:p>
          <a:p>
            <a:r>
              <a:rPr lang="en-US" sz="1400"/>
              <a:t>If you get enough visibility and traffic for N1, N2,... - then job offers will follow automatically.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55B0CC4-E913-0219-8D05-A9AD8FFB29F1}"/>
              </a:ext>
            </a:extLst>
          </p:cNvPr>
          <p:cNvSpPr txBox="1"/>
          <p:nvPr/>
        </p:nvSpPr>
        <p:spPr>
          <a:xfrm>
            <a:off x="0" y="0"/>
            <a:ext cx="73152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/>
              <a:t>Looking for a job is all about time management</a:t>
            </a:r>
          </a:p>
        </p:txBody>
      </p:sp>
    </p:spTree>
    <p:extLst>
      <p:ext uri="{BB962C8B-B14F-4D97-AF65-F5344CB8AC3E}">
        <p14:creationId xmlns:p14="http://schemas.microsoft.com/office/powerpoint/2010/main" val="319279870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8675BC5-98C4-F38C-C773-DB73CEC4CBCA}"/>
              </a:ext>
            </a:extLst>
          </p:cNvPr>
          <p:cNvSpPr txBox="1"/>
          <p:nvPr/>
        </p:nvSpPr>
        <p:spPr>
          <a:xfrm>
            <a:off x="2317897" y="1244009"/>
            <a:ext cx="6198782" cy="440120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/>
              <a:t>To look for a job is a job in itself.</a:t>
            </a:r>
          </a:p>
          <a:p>
            <a:endParaRPr lang="en-US" sz="1400"/>
          </a:p>
          <a:p>
            <a:r>
              <a:rPr lang="en-US" sz="1400"/>
              <a:t>It is a skill that you need to learn, to educate yourself.</a:t>
            </a:r>
          </a:p>
          <a:p>
            <a:endParaRPr lang="en-US" sz="1400"/>
          </a:p>
          <a:p>
            <a:r>
              <a:rPr lang="en-US" sz="1400"/>
              <a:t>How many books have you read on the subject of looking for a job?</a:t>
            </a:r>
          </a:p>
          <a:p>
            <a:r>
              <a:rPr lang="en-US" sz="1400"/>
              <a:t>Have you passed any exams/tests on the subject?</a:t>
            </a:r>
          </a:p>
          <a:p>
            <a:endParaRPr lang="en-US" sz="1400"/>
          </a:p>
          <a:p>
            <a:r>
              <a:rPr lang="en-US" sz="1400"/>
              <a:t>Suppose you need to undergo a brain surgery.</a:t>
            </a:r>
          </a:p>
          <a:p>
            <a:r>
              <a:rPr lang="en-US" sz="1400"/>
              <a:t>And you find that your surgeon hasn't read even a single book about medicine.</a:t>
            </a:r>
          </a:p>
          <a:p>
            <a:r>
              <a:rPr lang="en-US" sz="1400"/>
              <a:t>Will you be willing to pay him to do a surgery on you?</a:t>
            </a:r>
          </a:p>
          <a:p>
            <a:endParaRPr lang="en-US" sz="1400"/>
          </a:p>
          <a:p>
            <a:r>
              <a:rPr lang="en-US" sz="1400"/>
              <a:t>So how can you become successful in finding jobs</a:t>
            </a:r>
          </a:p>
          <a:p>
            <a:r>
              <a:rPr lang="en-US" sz="1400"/>
              <a:t>if you haven't educated yourself in how to do it?</a:t>
            </a:r>
          </a:p>
          <a:p>
            <a:endParaRPr lang="en-US" sz="1400"/>
          </a:p>
          <a:p>
            <a:r>
              <a:rPr lang="en-US" sz="1400"/>
              <a:t>You don't need to be a superhero to find a job.</a:t>
            </a:r>
          </a:p>
          <a:p>
            <a:endParaRPr lang="en-US" sz="1400"/>
          </a:p>
          <a:p>
            <a:r>
              <a:rPr lang="en-US" sz="1400"/>
              <a:t>All you need is to follow certain proven steps.</a:t>
            </a:r>
          </a:p>
          <a:p>
            <a:endParaRPr lang="en-US" sz="1400"/>
          </a:p>
          <a:p>
            <a:r>
              <a:rPr lang="en-US" sz="1400"/>
              <a:t>You need to know what to do.</a:t>
            </a:r>
          </a:p>
          <a:p>
            <a:r>
              <a:rPr lang="en-US" sz="1400"/>
              <a:t>You need to learn it.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4CEF291-8C6B-87EE-80C8-D4CE9B5E3B08}"/>
              </a:ext>
            </a:extLst>
          </p:cNvPr>
          <p:cNvSpPr txBox="1"/>
          <p:nvPr/>
        </p:nvSpPr>
        <p:spPr>
          <a:xfrm>
            <a:off x="0" y="0"/>
            <a:ext cx="691143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/>
              <a:t>To look for a job is a Full-Time job in itself.</a:t>
            </a:r>
          </a:p>
        </p:txBody>
      </p:sp>
    </p:spTree>
    <p:extLst>
      <p:ext uri="{BB962C8B-B14F-4D97-AF65-F5344CB8AC3E}">
        <p14:creationId xmlns:p14="http://schemas.microsoft.com/office/powerpoint/2010/main" val="57221856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8675BC5-98C4-F38C-C773-DB73CEC4CBCA}"/>
              </a:ext>
            </a:extLst>
          </p:cNvPr>
          <p:cNvSpPr txBox="1"/>
          <p:nvPr/>
        </p:nvSpPr>
        <p:spPr>
          <a:xfrm>
            <a:off x="2977116" y="1228397"/>
            <a:ext cx="5954233" cy="440120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/>
              <a:t>Just 20 years ago people used to answer ads in newspapers,</a:t>
            </a:r>
          </a:p>
          <a:p>
            <a:r>
              <a:rPr lang="en-US" sz="1400"/>
              <a:t>sending envelopes in mail, or calling employers or agents on the phone.</a:t>
            </a:r>
          </a:p>
          <a:p>
            <a:endParaRPr lang="en-US" sz="1400"/>
          </a:p>
          <a:p>
            <a:r>
              <a:rPr lang="en-US" sz="1400"/>
              <a:t>Nowadays people mostly use Internet.</a:t>
            </a:r>
          </a:p>
          <a:p>
            <a:r>
              <a:rPr lang="en-US" sz="1400"/>
              <a:t>But - there are different methods here as well.</a:t>
            </a:r>
          </a:p>
          <a:p>
            <a:endParaRPr lang="en-US" sz="1400"/>
          </a:p>
          <a:p>
            <a:r>
              <a:rPr lang="en-US" sz="1400"/>
              <a:t>Which methods are more effective?</a:t>
            </a:r>
          </a:p>
          <a:p>
            <a:endParaRPr lang="en-US" sz="1400"/>
          </a:p>
          <a:p>
            <a:r>
              <a:rPr lang="en-US" sz="1400"/>
              <a:t>I recommend this book:</a:t>
            </a:r>
          </a:p>
          <a:p>
            <a:r>
              <a:rPr lang="en-US" sz="1400"/>
              <a:t>"What_Color_Is_Your_Parachute"</a:t>
            </a:r>
          </a:p>
          <a:p>
            <a:r>
              <a:rPr lang="en-US" sz="1200"/>
              <a:t>.. </a:t>
            </a:r>
            <a:r>
              <a:rPr lang="en-US" sz="1200">
                <a:hlinkClick r:id="rId2"/>
              </a:rPr>
              <a:t>https://en.wikipedia.org/wiki/What_Color_Is_Your_Parachute%3F</a:t>
            </a:r>
            <a:endParaRPr lang="en-US" sz="1200"/>
          </a:p>
          <a:p>
            <a:endParaRPr lang="en-US" sz="1400"/>
          </a:p>
          <a:p>
            <a:r>
              <a:rPr lang="en-US" sz="1400"/>
              <a:t>"It has been in print since 1970 and has been revised annually since 1975, sometimes substantially."</a:t>
            </a:r>
          </a:p>
          <a:p>
            <a:endParaRPr lang="en-US" sz="1400"/>
          </a:p>
          <a:p>
            <a:r>
              <a:rPr lang="en-US" sz="1400"/>
              <a:t>Also you need to study marketing.</a:t>
            </a:r>
          </a:p>
          <a:p>
            <a:endParaRPr lang="en-US" sz="1400"/>
          </a:p>
          <a:p>
            <a:r>
              <a:rPr lang="en-US" sz="1400"/>
              <a:t>I recommend to follow Joe Polish:</a:t>
            </a:r>
          </a:p>
          <a:p>
            <a:r>
              <a:rPr lang="en-US" sz="1200"/>
              <a:t> - </a:t>
            </a:r>
            <a:r>
              <a:rPr lang="en-US" sz="1200">
                <a:hlinkClick r:id="rId3"/>
              </a:rPr>
              <a:t>https://ilovemarketing.com</a:t>
            </a:r>
            <a:endParaRPr lang="en-US" sz="1200"/>
          </a:p>
          <a:p>
            <a:r>
              <a:rPr lang="en-US" sz="1200"/>
              <a:t> - </a:t>
            </a:r>
            <a:r>
              <a:rPr lang="en-US" sz="1200">
                <a:hlinkClick r:id="rId4"/>
              </a:rPr>
              <a:t>https://geniusnetwork.com/giverbook/</a:t>
            </a:r>
            <a:endParaRPr lang="en-US" sz="120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8F0F7CE-8A20-CF39-3AD5-EEBCB2359FC2}"/>
              </a:ext>
            </a:extLst>
          </p:cNvPr>
          <p:cNvSpPr txBox="1"/>
          <p:nvPr/>
        </p:nvSpPr>
        <p:spPr>
          <a:xfrm>
            <a:off x="0" y="0"/>
            <a:ext cx="595423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/>
              <a:t>The technology of finding jobs changes</a:t>
            </a:r>
          </a:p>
        </p:txBody>
      </p:sp>
    </p:spTree>
    <p:extLst>
      <p:ext uri="{BB962C8B-B14F-4D97-AF65-F5344CB8AC3E}">
        <p14:creationId xmlns:p14="http://schemas.microsoft.com/office/powerpoint/2010/main" val="213037266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8675BC5-98C4-F38C-C773-DB73CEC4CBCA}"/>
              </a:ext>
            </a:extLst>
          </p:cNvPr>
          <p:cNvSpPr txBox="1"/>
          <p:nvPr/>
        </p:nvSpPr>
        <p:spPr>
          <a:xfrm>
            <a:off x="2646541" y="2164346"/>
            <a:ext cx="6198782" cy="203132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/>
              <a:t>Nowadays companies search candidates on Linkedin.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/>
              <a:t>If you recommend someone to HR (Human Resource), they will immediately search this person on Linkedin.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/>
              <a:t>Resume and Linkedin should correspond to each other. </a:t>
            </a:r>
          </a:p>
          <a:p>
            <a:endParaRPr lang="en-US" sz="14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/>
              <a:t>Both should contain a short </a:t>
            </a:r>
            <a:r>
              <a:rPr lang="en-US" sz="1400" b="1">
                <a:solidFill>
                  <a:srgbClr val="FF0000"/>
                </a:solidFill>
              </a:rPr>
              <a:t>summary at the top</a:t>
            </a:r>
            <a:r>
              <a:rPr lang="en-US" sz="1400"/>
              <a:t>. Spend 90% of your effort on this top summary. Because nobody reads the whole resume or Linkedin profile. But people read the top (summary). So spend most of your attention on the </a:t>
            </a:r>
            <a:r>
              <a:rPr lang="en-US" sz="1400" b="1">
                <a:solidFill>
                  <a:srgbClr val="FF0000"/>
                </a:solidFill>
              </a:rPr>
              <a:t>title and summary</a:t>
            </a:r>
            <a:r>
              <a:rPr lang="en-US" sz="1400"/>
              <a:t>. This is your positionning.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310F9FA-A810-0E65-BB1C-4B5B6E0C0CA4}"/>
              </a:ext>
            </a:extLst>
          </p:cNvPr>
          <p:cNvSpPr txBox="1"/>
          <p:nvPr/>
        </p:nvSpPr>
        <p:spPr>
          <a:xfrm>
            <a:off x="-1" y="0"/>
            <a:ext cx="631574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/>
              <a:t>Your Resume and Your Linkedin Profile</a:t>
            </a:r>
          </a:p>
        </p:txBody>
      </p:sp>
    </p:spTree>
    <p:extLst>
      <p:ext uri="{BB962C8B-B14F-4D97-AF65-F5344CB8AC3E}">
        <p14:creationId xmlns:p14="http://schemas.microsoft.com/office/powerpoint/2010/main" val="172086683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6C18C33-D356-5E24-3B80-1AA3390A161B}"/>
              </a:ext>
            </a:extLst>
          </p:cNvPr>
          <p:cNvSpPr txBox="1"/>
          <p:nvPr/>
        </p:nvSpPr>
        <p:spPr>
          <a:xfrm>
            <a:off x="596344" y="1134438"/>
            <a:ext cx="4851852" cy="181588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 b="1">
                <a:solidFill>
                  <a:srgbClr val="FF0000"/>
                </a:solidFill>
              </a:rPr>
              <a:t>Give yourself a title that corresponds </a:t>
            </a:r>
          </a:p>
          <a:p>
            <a:r>
              <a:rPr lang="en-US" sz="1400" b="1">
                <a:solidFill>
                  <a:srgbClr val="FF0000"/>
                </a:solidFill>
              </a:rPr>
              <a:t>to what you want to become.</a:t>
            </a:r>
          </a:p>
          <a:p>
            <a:endParaRPr lang="en-US" sz="1400"/>
          </a:p>
          <a:p>
            <a:r>
              <a:rPr lang="en-US" sz="1400"/>
              <a:t>For example, if you are looking for a position of a Data Scientist,</a:t>
            </a:r>
          </a:p>
          <a:p>
            <a:r>
              <a:rPr lang="en-US" sz="1400" b="1">
                <a:solidFill>
                  <a:srgbClr val="FF0000"/>
                </a:solidFill>
              </a:rPr>
              <a:t>name yourself as a Data Scientist</a:t>
            </a:r>
            <a:r>
              <a:rPr lang="en-US" sz="1400"/>
              <a:t>.</a:t>
            </a:r>
          </a:p>
          <a:p>
            <a:endParaRPr lang="en-US" sz="1400"/>
          </a:p>
          <a:p>
            <a:r>
              <a:rPr lang="en-US" sz="1400"/>
              <a:t>Once you start talking about yourself as a Data Scientist,</a:t>
            </a:r>
          </a:p>
          <a:p>
            <a:r>
              <a:rPr lang="en-US" sz="1400"/>
              <a:t>your outlook changes, your confidence increases, etc.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4E512DF-3B9E-7F8C-9DD2-5F49FE8B2E98}"/>
              </a:ext>
            </a:extLst>
          </p:cNvPr>
          <p:cNvSpPr txBox="1"/>
          <p:nvPr/>
        </p:nvSpPr>
        <p:spPr>
          <a:xfrm>
            <a:off x="0" y="0"/>
            <a:ext cx="375329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/>
              <a:t>Self-fulfilling prophecy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C517C0F-4660-C8F3-A09D-0842F6B0BBD1}"/>
              </a:ext>
            </a:extLst>
          </p:cNvPr>
          <p:cNvSpPr txBox="1"/>
          <p:nvPr/>
        </p:nvSpPr>
        <p:spPr>
          <a:xfrm>
            <a:off x="6096000" y="1870707"/>
            <a:ext cx="5499656" cy="440120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 b="1">
                <a:solidFill>
                  <a:srgbClr val="FF0000"/>
                </a:solidFill>
              </a:rPr>
              <a:t>Convince yourself that you are a Data Scientist.</a:t>
            </a:r>
          </a:p>
          <a:p>
            <a:endParaRPr lang="en-US" sz="1400"/>
          </a:p>
          <a:p>
            <a:r>
              <a:rPr lang="en-US" sz="1400"/>
              <a:t>What does it mean to be a Data Scientist ?</a:t>
            </a:r>
          </a:p>
          <a:p>
            <a:endParaRPr lang="en-US" sz="1400"/>
          </a:p>
          <a:p>
            <a:r>
              <a:rPr lang="en-US" sz="1400"/>
              <a:t>It doesn't mean to go to college and get a degree.</a:t>
            </a:r>
          </a:p>
          <a:p>
            <a:r>
              <a:rPr lang="en-US" sz="1400"/>
              <a:t>It simply means that you can do what average Data Scientists are doing.</a:t>
            </a:r>
          </a:p>
          <a:p>
            <a:endParaRPr lang="en-US" sz="1400"/>
          </a:p>
          <a:p>
            <a:r>
              <a:rPr lang="en-US" sz="1400"/>
              <a:t>A minimalistic definition - you need to know how to:</a:t>
            </a:r>
          </a:p>
          <a:p>
            <a:r>
              <a:rPr lang="en-US" sz="1400"/>
              <a:t>  - get data - SQL or from CSV file</a:t>
            </a:r>
          </a:p>
          <a:p>
            <a:r>
              <a:rPr lang="en-US" sz="1400"/>
              <a:t>  - explore data (Excel, Jupyter notebook, etc.)</a:t>
            </a:r>
          </a:p>
          <a:p>
            <a:r>
              <a:rPr lang="en-US" sz="1400"/>
              <a:t>  - run some simple model (Linear Regression)</a:t>
            </a:r>
          </a:p>
          <a:p>
            <a:r>
              <a:rPr lang="en-US" sz="1400"/>
              <a:t>  - evaluate model quality (accuracy, confusion matrix, precision, </a:t>
            </a:r>
          </a:p>
          <a:p>
            <a:r>
              <a:rPr lang="en-US" sz="1400"/>
              <a:t>    recall, ROC curve, etc.)</a:t>
            </a:r>
          </a:p>
          <a:p>
            <a:r>
              <a:rPr lang="en-US" sz="1400"/>
              <a:t>  - make PowerPoint presentation</a:t>
            </a:r>
          </a:p>
          <a:p>
            <a:endParaRPr lang="en-US" sz="1400"/>
          </a:p>
          <a:p>
            <a:r>
              <a:rPr lang="en-US" sz="1400"/>
              <a:t>There are multiple projects on Github, Medium, etc.</a:t>
            </a:r>
          </a:p>
          <a:p>
            <a:r>
              <a:rPr lang="en-US" sz="1400"/>
              <a:t>Take one of them, reproduce step-by-step.</a:t>
            </a:r>
          </a:p>
          <a:p>
            <a:endParaRPr lang="en-US" sz="1400"/>
          </a:p>
          <a:p>
            <a:r>
              <a:rPr lang="en-US" sz="1400"/>
              <a:t>Done.</a:t>
            </a:r>
          </a:p>
          <a:p>
            <a:r>
              <a:rPr lang="en-US" sz="1400"/>
              <a:t>You are a minimalistic Data Scientist.</a:t>
            </a:r>
          </a:p>
        </p:txBody>
      </p:sp>
    </p:spTree>
    <p:extLst>
      <p:ext uri="{BB962C8B-B14F-4D97-AF65-F5344CB8AC3E}">
        <p14:creationId xmlns:p14="http://schemas.microsoft.com/office/powerpoint/2010/main" val="305945836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7ADE524-95E1-8CAC-0C99-A86AE43EEBFD}"/>
              </a:ext>
            </a:extLst>
          </p:cNvPr>
          <p:cNvSpPr txBox="1"/>
          <p:nvPr/>
        </p:nvSpPr>
        <p:spPr>
          <a:xfrm>
            <a:off x="3502117" y="1841090"/>
            <a:ext cx="4433777" cy="2462213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/>
              <a:t>Get recommendations for your Linkedin profile.</a:t>
            </a:r>
          </a:p>
          <a:p>
            <a:r>
              <a:rPr lang="en-US" sz="1400"/>
              <a:t>At least 5-10, but 40-50 is better.</a:t>
            </a:r>
          </a:p>
          <a:p>
            <a:endParaRPr lang="en-US" sz="1400"/>
          </a:p>
          <a:p>
            <a:r>
              <a:rPr lang="en-US" sz="1400"/>
              <a:t>People trust when they see positive reviews (recommendations).</a:t>
            </a:r>
          </a:p>
          <a:p>
            <a:endParaRPr lang="en-US" sz="1400"/>
          </a:p>
          <a:p>
            <a:r>
              <a:rPr lang="en-US" sz="1400"/>
              <a:t>This is similar to a trust people experience when</a:t>
            </a:r>
          </a:p>
          <a:p>
            <a:r>
              <a:rPr lang="en-US" sz="1400"/>
              <a:t>they see positive 5-star reviews on amazon.</a:t>
            </a:r>
          </a:p>
          <a:p>
            <a:endParaRPr lang="en-US" sz="1400"/>
          </a:p>
          <a:p>
            <a:r>
              <a:rPr lang="en-US" sz="1400"/>
              <a:t>So - present yourself as a 5-stars "product" using recommendations.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9FD5842-31B3-F740-459C-D71D75065DD1}"/>
              </a:ext>
            </a:extLst>
          </p:cNvPr>
          <p:cNvSpPr txBox="1"/>
          <p:nvPr/>
        </p:nvSpPr>
        <p:spPr>
          <a:xfrm>
            <a:off x="0" y="0"/>
            <a:ext cx="742207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/>
              <a:t>Get recommendations for your Linkedin profile</a:t>
            </a:r>
          </a:p>
        </p:txBody>
      </p:sp>
    </p:spTree>
    <p:extLst>
      <p:ext uri="{BB962C8B-B14F-4D97-AF65-F5344CB8AC3E}">
        <p14:creationId xmlns:p14="http://schemas.microsoft.com/office/powerpoint/2010/main" val="192938246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2362</TotalTime>
  <Words>2560</Words>
  <Application>Microsoft Macintosh PowerPoint</Application>
  <PresentationFormat>Widescreen</PresentationFormat>
  <Paragraphs>295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Lev Selector</dc:creator>
  <cp:lastModifiedBy>Lev Selector</cp:lastModifiedBy>
  <cp:revision>210</cp:revision>
  <dcterms:created xsi:type="dcterms:W3CDTF">2021-08-13T19:21:10Z</dcterms:created>
  <dcterms:modified xsi:type="dcterms:W3CDTF">2022-09-18T20:53:39Z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4f518368-b969-4042-91d9-8939bd921da2_Enabled">
    <vt:lpwstr>true</vt:lpwstr>
  </property>
  <property fmtid="{D5CDD505-2E9C-101B-9397-08002B2CF9AE}" pid="3" name="MSIP_Label_4f518368-b969-4042-91d9-8939bd921da2_SetDate">
    <vt:lpwstr>2022-09-02T20:43:44Z</vt:lpwstr>
  </property>
  <property fmtid="{D5CDD505-2E9C-101B-9397-08002B2CF9AE}" pid="4" name="MSIP_Label_4f518368-b969-4042-91d9-8939bd921da2_Method">
    <vt:lpwstr>Standard</vt:lpwstr>
  </property>
  <property fmtid="{D5CDD505-2E9C-101B-9397-08002B2CF9AE}" pid="5" name="MSIP_Label_4f518368-b969-4042-91d9-8939bd921da2_Name">
    <vt:lpwstr>General</vt:lpwstr>
  </property>
  <property fmtid="{D5CDD505-2E9C-101B-9397-08002B2CF9AE}" pid="6" name="MSIP_Label_4f518368-b969-4042-91d9-8939bd921da2_SiteId">
    <vt:lpwstr>116e9905-19fc-428e-93d4-bcaffb833597</vt:lpwstr>
  </property>
  <property fmtid="{D5CDD505-2E9C-101B-9397-08002B2CF9AE}" pid="7" name="MSIP_Label_4f518368-b969-4042-91d9-8939bd921da2_ActionId">
    <vt:lpwstr>c1d4db92-49ba-4377-9ce0-a34b8c197608</vt:lpwstr>
  </property>
  <property fmtid="{D5CDD505-2E9C-101B-9397-08002B2CF9AE}" pid="8" name="MSIP_Label_4f518368-b969-4042-91d9-8939bd921da2_ContentBits">
    <vt:lpwstr>0</vt:lpwstr>
  </property>
</Properties>
</file>