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87" r:id="rId2"/>
    <p:sldId id="294" r:id="rId3"/>
    <p:sldId id="292" r:id="rId4"/>
    <p:sldId id="288" r:id="rId5"/>
    <p:sldId id="289" r:id="rId6"/>
    <p:sldId id="290" r:id="rId7"/>
    <p:sldId id="291" r:id="rId8"/>
    <p:sldId id="29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651"/>
    <p:restoredTop sz="94505"/>
  </p:normalViewPr>
  <p:slideViewPr>
    <p:cSldViewPr snapToGrid="0" snapToObjects="1">
      <p:cViewPr varScale="1">
        <p:scale>
          <a:sx n="120" d="100"/>
          <a:sy n="120" d="100"/>
        </p:scale>
        <p:origin x="24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0AF671-4685-124D-A41D-446D235EA8CE}" type="datetimeFigureOut">
              <a:t>9/11/22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DFC609-AB91-B841-B89F-D8507929D09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576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FC609-AB91-B841-B89F-D8507929D09E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916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4F27C-726C-F34D-8409-80F55E545E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92C0DA-692D-0D4F-A5E2-14D77E98D5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228344-ACB5-2544-8F64-8F48AB36A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482548-988C-A141-886B-1288B5E79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C00C34-78F2-0446-AAC8-AE2EAB4C8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607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C70C7-DB12-B444-B1B2-C48E25E41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2DCFE-53F0-024F-A617-2BD896C61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8859B6-E1E3-B04D-A047-8D2EC0DF4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325EF9-1164-754C-8B5A-763A5AC7B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42791D-421D-8745-9562-45793F408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145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FF0F6-6C15-8249-BFD5-99E1F52B9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EF16EF-BE46-664B-B253-58617527F9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2407D8-A253-D24E-A3D2-6016577AD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7AA5E3-13D0-7841-BCC6-417B0E16B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3E12E-BCBD-B34C-92B4-7613D39B4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417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58562-4DC4-854A-BBBB-16F35B6A3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DE5C7F-96F1-4846-9EC3-8402DD6885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88E0DC-C318-0949-AA4D-E20EF7E5D4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04ABB1-6F7E-0C41-BAD8-BF0C97046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9/11/22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FCE178-590D-4F41-98C0-D37428175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570DF3-6012-7B47-B3FB-86489127C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8591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E067-6F58-BC40-A770-31355823C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C284D0-F04D-1942-9055-6543BB9348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0E4A69-608C-D54B-84E7-577BA76DA8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012351-7762-474F-993C-C1DCC7CAF7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6FF6DA-38DB-F642-8582-12853CF8A6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B3E2CD-2374-D241-A907-BDC28A29D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9/11/22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02861F-06F7-4F4F-AE77-854CE7022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BEB302-265A-F345-A27F-189DC71E2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816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740CE-9613-DD4B-910D-FD9367F5F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97B97E-B666-AB4C-8895-6EFDBB1F5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9/11/22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4A0898-83AF-6B4E-A793-A75BA4A23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5B0A5B-EF6C-A543-AF59-5B027487C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9589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AADD5D-3B4C-FC46-A3AB-8847BEE31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9/11/22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81BCAC-3BF4-664B-A180-3CE656F10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452949-739C-F940-990E-7C1F76905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7232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6026B-8F91-E843-929E-B8D193A41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3901C9-5D06-7446-893E-C386DE78E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AEFEC-6B69-9D40-BF13-C90D122DD4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51C260-B81F-4C45-B502-D6C13CE2F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9/11/22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523561-E5EA-834B-85DF-19C0AC080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E22E99-7ABD-C545-B6B9-9FDD51D6B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0877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6A3DA-03F9-F24C-98B3-D267B4CDD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68B0B0-4858-364A-B7CA-CA05AB1252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DCA157-AB94-9646-8C72-FF9ECCC5BA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31188-EFC7-354D-AF12-DFD329BD0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9/11/22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15353E-B6F9-C245-8A28-1A7DA9258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0521E6-0D62-AD41-968D-6D110007B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55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D366-7954-574E-B227-42020C5D4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257F7-9A11-6143-B3BE-65EA79F1E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6E38A-4D17-0E45-B253-CFFA73B8A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708F96-4E3C-DD49-9DA6-E58D1E472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13D00-BFC8-8C4D-86CD-C22BB04A8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991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9FACBD-77A5-8C49-B88D-B07B46866C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3F7211-16D2-B54B-811F-C40782CF76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597539-AE59-3C4F-92BD-FFD32CB14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0B581-06C6-5A4B-9E30-3EAD5667F4B3}" type="datetimeFigureOut">
              <a:rPr lang="en-US" smtClean="0"/>
              <a:t>9/11/22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2887D4-9F35-694F-ABCC-C43262D3C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0862F5-D353-1743-8037-74EB4E528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489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22AB8C-3B85-8246-A8C2-8FF1A99E4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2DDD0A-B722-F14C-9538-4495689748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1C874F-E44E-BF44-9BF8-5BE6F387BE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90B581-06C6-5A4B-9E30-3EAD5667F4B3}" type="datetimeFigureOut">
              <a:rPr lang="en-US" smtClean="0"/>
              <a:t>9/11/22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146542-B3B2-504E-9846-81A0633DE4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49DBBE-02CA-2744-8992-09E502DE00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87B916-9C37-1342-8860-FDF17023D9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933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en.wikipedia.org/wiki/Robert_Collier_%28author%29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13" Type="http://schemas.openxmlformats.org/officeDocument/2006/relationships/image" Target="../media/image22.jpeg"/><Relationship Id="rId18" Type="http://schemas.openxmlformats.org/officeDocument/2006/relationships/image" Target="../media/image27.jpeg"/><Relationship Id="rId26" Type="http://schemas.openxmlformats.org/officeDocument/2006/relationships/image" Target="../media/image34.jpeg"/><Relationship Id="rId3" Type="http://schemas.openxmlformats.org/officeDocument/2006/relationships/image" Target="../media/image12.jpg"/><Relationship Id="rId21" Type="http://schemas.openxmlformats.org/officeDocument/2006/relationships/image" Target="../media/image29.png"/><Relationship Id="rId7" Type="http://schemas.openxmlformats.org/officeDocument/2006/relationships/image" Target="../media/image16.jpeg"/><Relationship Id="rId12" Type="http://schemas.openxmlformats.org/officeDocument/2006/relationships/image" Target="../media/image21.jpg"/><Relationship Id="rId17" Type="http://schemas.openxmlformats.org/officeDocument/2006/relationships/image" Target="../media/image26.png"/><Relationship Id="rId25" Type="http://schemas.openxmlformats.org/officeDocument/2006/relationships/image" Target="../media/image33.png"/><Relationship Id="rId2" Type="http://schemas.openxmlformats.org/officeDocument/2006/relationships/image" Target="../media/image11.jpg"/><Relationship Id="rId16" Type="http://schemas.openxmlformats.org/officeDocument/2006/relationships/image" Target="../media/image25.png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jpg"/><Relationship Id="rId11" Type="http://schemas.openxmlformats.org/officeDocument/2006/relationships/image" Target="../media/image20.jpg"/><Relationship Id="rId24" Type="http://schemas.openxmlformats.org/officeDocument/2006/relationships/image" Target="../media/image32.png"/><Relationship Id="rId5" Type="http://schemas.openxmlformats.org/officeDocument/2006/relationships/image" Target="../media/image14.jpg"/><Relationship Id="rId15" Type="http://schemas.openxmlformats.org/officeDocument/2006/relationships/image" Target="../media/image24.png"/><Relationship Id="rId23" Type="http://schemas.openxmlformats.org/officeDocument/2006/relationships/image" Target="../media/image31.png"/><Relationship Id="rId10" Type="http://schemas.openxmlformats.org/officeDocument/2006/relationships/image" Target="../media/image19.jpeg"/><Relationship Id="rId19" Type="http://schemas.openxmlformats.org/officeDocument/2006/relationships/image" Target="../media/image28.png"/><Relationship Id="rId4" Type="http://schemas.openxmlformats.org/officeDocument/2006/relationships/image" Target="../media/image13.jpg"/><Relationship Id="rId9" Type="http://schemas.openxmlformats.org/officeDocument/2006/relationships/image" Target="../media/image18.jpeg"/><Relationship Id="rId14" Type="http://schemas.openxmlformats.org/officeDocument/2006/relationships/image" Target="../media/image23.png"/><Relationship Id="rId22" Type="http://schemas.openxmlformats.org/officeDocument/2006/relationships/image" Target="../media/image30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jpeg"/><Relationship Id="rId13" Type="http://schemas.openxmlformats.org/officeDocument/2006/relationships/image" Target="../media/image46.jpeg"/><Relationship Id="rId3" Type="http://schemas.openxmlformats.org/officeDocument/2006/relationships/image" Target="../media/image36.jpeg"/><Relationship Id="rId7" Type="http://schemas.openxmlformats.org/officeDocument/2006/relationships/image" Target="../media/image40.jpeg"/><Relationship Id="rId12" Type="http://schemas.openxmlformats.org/officeDocument/2006/relationships/image" Target="../media/image45.jpe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11" Type="http://schemas.openxmlformats.org/officeDocument/2006/relationships/image" Target="../media/image44.jpeg"/><Relationship Id="rId5" Type="http://schemas.openxmlformats.org/officeDocument/2006/relationships/image" Target="../media/image38.jpeg"/><Relationship Id="rId10" Type="http://schemas.openxmlformats.org/officeDocument/2006/relationships/image" Target="../media/image43.jpeg"/><Relationship Id="rId4" Type="http://schemas.openxmlformats.org/officeDocument/2006/relationships/image" Target="../media/image37.jpeg"/><Relationship Id="rId9" Type="http://schemas.openxmlformats.org/officeDocument/2006/relationships/image" Target="../media/image42.jpeg"/><Relationship Id="rId14" Type="http://schemas.openxmlformats.org/officeDocument/2006/relationships/image" Target="../media/image4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F35B93-487F-1D49-A679-7ACD78250CA1}"/>
              </a:ext>
            </a:extLst>
          </p:cNvPr>
          <p:cNvSpPr/>
          <p:nvPr/>
        </p:nvSpPr>
        <p:spPr>
          <a:xfrm>
            <a:off x="4089537" y="445983"/>
            <a:ext cx="296188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4000" b="1" dirty="0">
                <a:solidFill>
                  <a:srgbClr val="00B0F0"/>
                </a:solidFill>
                <a:latin typeface="Arial" panose="020B0604020202020204" pitchFamily="34" charset="0"/>
              </a:rPr>
              <a:t>Marketing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B86BEC-2141-BAA6-65A1-4AEA12A5D2DA}"/>
              </a:ext>
            </a:extLst>
          </p:cNvPr>
          <p:cNvSpPr txBox="1"/>
          <p:nvPr/>
        </p:nvSpPr>
        <p:spPr>
          <a:xfrm>
            <a:off x="6864295" y="5004393"/>
            <a:ext cx="21746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for a good client</a:t>
            </a:r>
          </a:p>
          <a:p>
            <a:r>
              <a:rPr lang="en-US" sz="1400"/>
              <a:t>we are "</a:t>
            </a:r>
            <a:r>
              <a:rPr lang="en-US" sz="1400" b="1">
                <a:solidFill>
                  <a:srgbClr val="FF0000"/>
                </a:solidFill>
              </a:rPr>
              <a:t>Welcome Guest</a:t>
            </a:r>
            <a:r>
              <a:rPr lang="en-US" sz="1400"/>
              <a:t>"</a:t>
            </a:r>
            <a:endParaRPr lang="en-US" sz="1400" b="1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101775-F132-E698-2227-86864BEC59B9}"/>
              </a:ext>
            </a:extLst>
          </p:cNvPr>
          <p:cNvSpPr txBox="1"/>
          <p:nvPr/>
        </p:nvSpPr>
        <p:spPr>
          <a:xfrm>
            <a:off x="2932224" y="5004393"/>
            <a:ext cx="1986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for a Cold Prospect</a:t>
            </a:r>
          </a:p>
          <a:p>
            <a:r>
              <a:rPr lang="en-US" sz="1400"/>
              <a:t>we are "</a:t>
            </a:r>
            <a:r>
              <a:rPr lang="en-US" sz="1400" b="1">
                <a:solidFill>
                  <a:srgbClr val="FF0000"/>
                </a:solidFill>
              </a:rPr>
              <a:t>Annoying Pest</a:t>
            </a:r>
            <a:r>
              <a:rPr lang="en-US" sz="1400"/>
              <a:t>"</a:t>
            </a:r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F41CBF7D-70E0-2A99-49F3-F370EFC8C011}"/>
              </a:ext>
            </a:extLst>
          </p:cNvPr>
          <p:cNvSpPr/>
          <p:nvPr/>
        </p:nvSpPr>
        <p:spPr>
          <a:xfrm>
            <a:off x="4054802" y="2380593"/>
            <a:ext cx="3615560" cy="4477407"/>
          </a:xfrm>
          <a:prstGeom prst="arc">
            <a:avLst>
              <a:gd name="adj1" fmla="val 10695376"/>
              <a:gd name="adj2" fmla="val 0"/>
            </a:avLst>
          </a:prstGeom>
          <a:ln w="635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B4A747CF-BA11-868C-5C43-7E0BBBC65EE9}"/>
              </a:ext>
            </a:extLst>
          </p:cNvPr>
          <p:cNvSpPr/>
          <p:nvPr/>
        </p:nvSpPr>
        <p:spPr>
          <a:xfrm rot="17724297">
            <a:off x="3445201" y="3405352"/>
            <a:ext cx="1219200" cy="1996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11319C-187A-6C91-3853-28F3C40E41E9}"/>
              </a:ext>
            </a:extLst>
          </p:cNvPr>
          <p:cNvSpPr txBox="1"/>
          <p:nvPr/>
        </p:nvSpPr>
        <p:spPr>
          <a:xfrm>
            <a:off x="4406521" y="3243590"/>
            <a:ext cx="129739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Uphill</a:t>
            </a:r>
          </a:p>
          <a:p>
            <a:r>
              <a:rPr lang="en-US" sz="1400"/>
              <a:t>Hard work</a:t>
            </a:r>
          </a:p>
          <a:p>
            <a:r>
              <a:rPr lang="en-US" sz="1400"/>
              <a:t>building repo</a:t>
            </a: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521D3E40-7E43-CFF2-A58C-3E0FA0AE2BB9}"/>
              </a:ext>
            </a:extLst>
          </p:cNvPr>
          <p:cNvSpPr/>
          <p:nvPr/>
        </p:nvSpPr>
        <p:spPr>
          <a:xfrm rot="3503018">
            <a:off x="6993365" y="3329151"/>
            <a:ext cx="1219200" cy="1996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47B351-BC77-8B1A-BDED-BEE43FB6A2F2}"/>
              </a:ext>
            </a:extLst>
          </p:cNvPr>
          <p:cNvSpPr txBox="1"/>
          <p:nvPr/>
        </p:nvSpPr>
        <p:spPr>
          <a:xfrm>
            <a:off x="6388100" y="3243590"/>
            <a:ext cx="12973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Downhill</a:t>
            </a:r>
          </a:p>
          <a:p>
            <a:r>
              <a:rPr lang="en-US" sz="1400"/>
              <a:t>Easy sales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99499F-52E8-5102-9913-F881F4AAD3FD}"/>
              </a:ext>
            </a:extLst>
          </p:cNvPr>
          <p:cNvSpPr txBox="1"/>
          <p:nvPr/>
        </p:nvSpPr>
        <p:spPr>
          <a:xfrm>
            <a:off x="130018" y="1642681"/>
            <a:ext cx="33020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Marketing = Selling in Advance</a:t>
            </a:r>
          </a:p>
          <a:p>
            <a:endParaRPr lang="en-US"/>
          </a:p>
          <a:p>
            <a:r>
              <a:rPr lang="en-US"/>
              <a:t>Marketing educates, builds repo, creates trust, creates comfort</a:t>
            </a:r>
          </a:p>
          <a:p>
            <a:endParaRPr lang="en-US"/>
          </a:p>
          <a:p>
            <a:r>
              <a:rPr lang="en-US"/>
              <a:t>Marketing does this prep work automatically and cost-effectively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77946D-FE18-E8D6-7315-FDB99FAFEF00}"/>
              </a:ext>
            </a:extLst>
          </p:cNvPr>
          <p:cNvSpPr txBox="1"/>
          <p:nvPr/>
        </p:nvSpPr>
        <p:spPr>
          <a:xfrm>
            <a:off x="8495758" y="1811597"/>
            <a:ext cx="30861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Selling is easy when prospects are already pre-interested, pre-motivated, pre-qualified, &amp; pre-disposed to do business with you</a:t>
            </a:r>
          </a:p>
        </p:txBody>
      </p:sp>
    </p:spTree>
    <p:extLst>
      <p:ext uri="{BB962C8B-B14F-4D97-AF65-F5344CB8AC3E}">
        <p14:creationId xmlns:p14="http://schemas.microsoft.com/office/powerpoint/2010/main" val="2985056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8" descr="The 22 Best Marketing Books You Need to Read in 2022">
            <a:extLst>
              <a:ext uri="{FF2B5EF4-FFF2-40B4-BE49-F238E27FC236}">
                <a16:creationId xmlns:a16="http://schemas.microsoft.com/office/drawing/2014/main" id="{C94B2ABF-F0EE-B0E9-85AD-761EB9B369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91092" y="4679876"/>
            <a:ext cx="1299945" cy="1969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B8F16FA-3710-5E4F-0A1B-7B243FA1901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02038" y="4679876"/>
            <a:ext cx="1506044" cy="157388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883C80-BDE8-3A8C-DB63-FEA56C6BB3F7}"/>
              </a:ext>
            </a:extLst>
          </p:cNvPr>
          <p:cNvSpPr txBox="1"/>
          <p:nvPr/>
        </p:nvSpPr>
        <p:spPr>
          <a:xfrm>
            <a:off x="6402038" y="6253759"/>
            <a:ext cx="1572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Robert Cialdini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ACF338-D28C-70C8-3261-FDB5A9F26A3A}"/>
              </a:ext>
            </a:extLst>
          </p:cNvPr>
          <p:cNvSpPr txBox="1"/>
          <p:nvPr/>
        </p:nvSpPr>
        <p:spPr>
          <a:xfrm>
            <a:off x="4915975" y="2983994"/>
            <a:ext cx="2083330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/>
              <a:t>Multi-step Marketing Process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74C961F4-2164-09D1-9945-5AF487D022EF}"/>
              </a:ext>
            </a:extLst>
          </p:cNvPr>
          <p:cNvSpPr/>
          <p:nvPr/>
        </p:nvSpPr>
        <p:spPr>
          <a:xfrm>
            <a:off x="3528205" y="2746390"/>
            <a:ext cx="914400" cy="33617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69D34B-B4D9-6EEC-A4E8-35E730C4A096}"/>
              </a:ext>
            </a:extLst>
          </p:cNvPr>
          <p:cNvSpPr txBox="1"/>
          <p:nvPr/>
        </p:nvSpPr>
        <p:spPr>
          <a:xfrm>
            <a:off x="2191110" y="3127609"/>
            <a:ext cx="1157422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/>
              <a:t>Budget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1BBEC0AA-6416-8659-299E-FFF1E605E307}"/>
              </a:ext>
            </a:extLst>
          </p:cNvPr>
          <p:cNvSpPr/>
          <p:nvPr/>
        </p:nvSpPr>
        <p:spPr>
          <a:xfrm>
            <a:off x="7321486" y="2745755"/>
            <a:ext cx="914400" cy="33617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61C8BB-37A9-1EE5-EF30-24B35E454C1A}"/>
              </a:ext>
            </a:extLst>
          </p:cNvPr>
          <p:cNvSpPr txBox="1"/>
          <p:nvPr/>
        </p:nvSpPr>
        <p:spPr>
          <a:xfrm>
            <a:off x="8807983" y="2986073"/>
            <a:ext cx="188823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/>
              <a:t>Kidney Donors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4BE496-6B3D-E609-9179-704C89A13EC0}"/>
              </a:ext>
            </a:extLst>
          </p:cNvPr>
          <p:cNvSpPr txBox="1"/>
          <p:nvPr/>
        </p:nvSpPr>
        <p:spPr>
          <a:xfrm>
            <a:off x="96275" y="208511"/>
            <a:ext cx="61338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Marketing as an Engineering Project ...</a:t>
            </a:r>
          </a:p>
        </p:txBody>
      </p:sp>
      <p:pic>
        <p:nvPicPr>
          <p:cNvPr id="1026" name="Picture 2" descr="Dollar Logo PNG Vector (EPS) Free Download">
            <a:extLst>
              <a:ext uri="{FF2B5EF4-FFF2-40B4-BE49-F238E27FC236}">
                <a16:creationId xmlns:a16="http://schemas.microsoft.com/office/drawing/2014/main" id="{86366383-4146-49A0-3E1E-AC5A33617D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456792" y="2116346"/>
            <a:ext cx="499316" cy="954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8ACAD44-80DB-0500-DB6B-8DBFE408122C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12017" y="2005778"/>
            <a:ext cx="2087288" cy="923331"/>
          </a:xfrm>
          <a:prstGeom prst="rect">
            <a:avLst/>
          </a:prstGeom>
        </p:spPr>
      </p:pic>
      <p:pic>
        <p:nvPicPr>
          <p:cNvPr id="1028" name="Picture 4" descr="Living Kidney Donor Program | Temple Health">
            <a:extLst>
              <a:ext uri="{FF2B5EF4-FFF2-40B4-BE49-F238E27FC236}">
                <a16:creationId xmlns:a16="http://schemas.microsoft.com/office/drawing/2014/main" id="{2F6400A5-B352-21D9-7AA6-0D7B2D2F9E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07983" y="1673414"/>
            <a:ext cx="1888236" cy="1258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75844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A3C32E-01F2-E933-AB54-FD491D6A6FF9}"/>
              </a:ext>
            </a:extLst>
          </p:cNvPr>
          <p:cNvSpPr txBox="1"/>
          <p:nvPr/>
        </p:nvSpPr>
        <p:spPr>
          <a:xfrm>
            <a:off x="117969" y="91777"/>
            <a:ext cx="30065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Direct Response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A26FF9-FBA3-1961-D673-C38C1EC75F1A}"/>
              </a:ext>
            </a:extLst>
          </p:cNvPr>
          <p:cNvSpPr txBox="1"/>
          <p:nvPr/>
        </p:nvSpPr>
        <p:spPr>
          <a:xfrm>
            <a:off x="227845" y="1255176"/>
            <a:ext cx="5342696" cy="24622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Direct response marketing</a:t>
            </a:r>
            <a:r>
              <a:rPr lang="en-US" sz="1400"/>
              <a:t> </a:t>
            </a:r>
          </a:p>
          <a:p>
            <a:r>
              <a:rPr lang="en-US" sz="1400"/>
              <a:t>a.k.a "</a:t>
            </a:r>
            <a:r>
              <a:rPr lang="en-US" sz="1400">
                <a:solidFill>
                  <a:srgbClr val="FF0000"/>
                </a:solidFill>
              </a:rPr>
              <a:t>results required marketing</a:t>
            </a:r>
            <a:r>
              <a:rPr lang="en-US" sz="1400"/>
              <a:t>" (Dan Kennedy):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A marketing strategy where the goal is to encourage an immediate response from propsects or consumers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 response can be any action such as visiting a website, making a purchase or even just sharing a post on social media.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Direct response allows to measure, test, and improve effectiveness of your advertising very quickly.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Direct Response has its roots in mail order marketing.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Direct response contrasts with marketing activities that have long-term goals such as building a brand identity or raising awareness.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28DA49-85E8-AB52-3F10-45840A24B1F7}"/>
              </a:ext>
            </a:extLst>
          </p:cNvPr>
          <p:cNvSpPr txBox="1"/>
          <p:nvPr/>
        </p:nvSpPr>
        <p:spPr>
          <a:xfrm>
            <a:off x="5994782" y="3624917"/>
            <a:ext cx="248042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"Only mail order people know </a:t>
            </a:r>
          </a:p>
          <a:p>
            <a:pPr algn="ctr"/>
            <a:r>
              <a:rPr lang="en-US" sz="1400"/>
              <a:t>what they are doing"</a:t>
            </a:r>
          </a:p>
          <a:p>
            <a:pPr algn="ctr"/>
            <a:r>
              <a:rPr lang="en-US" sz="1400" b="1">
                <a:solidFill>
                  <a:srgbClr val="00B050"/>
                </a:solidFill>
              </a:rPr>
              <a:t>David Ogilvy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85818A-F432-5D1C-663A-4018D75EECD3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8619" y="1349633"/>
            <a:ext cx="2356589" cy="2273300"/>
          </a:xfrm>
          <a:prstGeom prst="rect">
            <a:avLst/>
          </a:prstGeom>
        </p:spPr>
      </p:pic>
      <p:pic>
        <p:nvPicPr>
          <p:cNvPr id="3076" name="Picture 4" descr="A/B testing - Optimizely">
            <a:extLst>
              <a:ext uri="{FF2B5EF4-FFF2-40B4-BE49-F238E27FC236}">
                <a16:creationId xmlns:a16="http://schemas.microsoft.com/office/drawing/2014/main" id="{C6A8F9CE-F81D-F585-0FDD-49617E1E3B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944395" y="4474527"/>
            <a:ext cx="2918731" cy="1720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696799-7494-07E4-9122-1C48EF575E79}"/>
              </a:ext>
            </a:extLst>
          </p:cNvPr>
          <p:cNvSpPr txBox="1"/>
          <p:nvPr/>
        </p:nvSpPr>
        <p:spPr>
          <a:xfrm>
            <a:off x="2899193" y="6258282"/>
            <a:ext cx="3009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A/B split testing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CF0BE7-14A4-86C4-CF96-9C4E8EB91FCB}"/>
              </a:ext>
            </a:extLst>
          </p:cNvPr>
          <p:cNvSpPr txBox="1"/>
          <p:nvPr/>
        </p:nvSpPr>
        <p:spPr>
          <a:xfrm>
            <a:off x="8840904" y="3555770"/>
            <a:ext cx="300913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"You’re NOT in the marketing business. You’re in the ARITHMETIC business. If your arithmetic doesn’t add up, you won’t have a business for very long. Start counting."</a:t>
            </a:r>
          </a:p>
          <a:p>
            <a:pPr algn="ctr"/>
            <a:r>
              <a:rPr lang="en-US" sz="1400" b="1">
                <a:solidFill>
                  <a:srgbClr val="00B050"/>
                </a:solidFill>
              </a:rPr>
              <a:t>Gary Halbert</a:t>
            </a:r>
          </a:p>
        </p:txBody>
      </p:sp>
      <p:pic>
        <p:nvPicPr>
          <p:cNvPr id="3080" name="Picture 8" descr="The Gary Halbert Letter - Dear Pop, Wherever you are, you'll appreciate  that many of us lessor mortals and shitweasels still celebrate your  birthday by visiting a book store and taking in">
            <a:extLst>
              <a:ext uri="{FF2B5EF4-FFF2-40B4-BE49-F238E27FC236}">
                <a16:creationId xmlns:a16="http://schemas.microsoft.com/office/drawing/2014/main" id="{8D135D07-BEF7-348B-E21F-088CCB34DB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588499" y="1349633"/>
            <a:ext cx="1513948" cy="21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7C045A9-5368-9957-AA45-90847F555C79}"/>
              </a:ext>
            </a:extLst>
          </p:cNvPr>
          <p:cNvSpPr txBox="1"/>
          <p:nvPr/>
        </p:nvSpPr>
        <p:spPr>
          <a:xfrm>
            <a:off x="6961230" y="5685300"/>
            <a:ext cx="41412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B0F0"/>
                </a:solidFill>
              </a:rPr>
              <a:t>What you can measure – you can improve</a:t>
            </a:r>
          </a:p>
        </p:txBody>
      </p:sp>
    </p:spTree>
    <p:extLst>
      <p:ext uri="{BB962C8B-B14F-4D97-AF65-F5344CB8AC3E}">
        <p14:creationId xmlns:p14="http://schemas.microsoft.com/office/powerpoint/2010/main" val="1014912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F35B93-487F-1D49-A679-7ACD78250CA1}"/>
              </a:ext>
            </a:extLst>
          </p:cNvPr>
          <p:cNvSpPr/>
          <p:nvPr/>
        </p:nvSpPr>
        <p:spPr>
          <a:xfrm>
            <a:off x="5693663" y="19694"/>
            <a:ext cx="6459725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4000" b="1" dirty="0">
                <a:solidFill>
                  <a:srgbClr val="00B0F0"/>
                </a:solidFill>
                <a:latin typeface="Arial" panose="020B0604020202020204" pitchFamily="34" charset="0"/>
              </a:rPr>
              <a:t>Typical Marketing Funnel </a:t>
            </a:r>
          </a:p>
          <a:p>
            <a:pPr algn="ctr"/>
            <a:r>
              <a:rPr lang="en-US" sz="4000" b="1" dirty="0">
                <a:solidFill>
                  <a:srgbClr val="00B0F0"/>
                </a:solidFill>
                <a:latin typeface="Arial" panose="020B0604020202020204" pitchFamily="34" charset="0"/>
              </a:rPr>
              <a:t>for Expensive Service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D59AE5-D04D-38DA-9DF7-81B0D93E17DE}"/>
              </a:ext>
            </a:extLst>
          </p:cNvPr>
          <p:cNvSpPr txBox="1"/>
          <p:nvPr/>
        </p:nvSpPr>
        <p:spPr>
          <a:xfrm>
            <a:off x="279400" y="1676400"/>
            <a:ext cx="2006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Information Hooks</a:t>
            </a:r>
          </a:p>
          <a:p>
            <a:r>
              <a:rPr lang="en-US" sz="1400">
                <a:solidFill>
                  <a:srgbClr val="00B050"/>
                </a:solidFill>
              </a:rPr>
              <a:t>Hundreds/thousands of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YouTube Videos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Linkedin Posts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Mewdium Articles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Quora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StackOverflow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Facebook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Instagram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etc.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0ECD3E-FACA-894F-9D1E-634527C097F3}"/>
              </a:ext>
            </a:extLst>
          </p:cNvPr>
          <p:cNvSpPr txBox="1"/>
          <p:nvPr/>
        </p:nvSpPr>
        <p:spPr>
          <a:xfrm>
            <a:off x="391160" y="4685341"/>
            <a:ext cx="1473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Subscriptions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7744F2-C292-F900-C46E-5D6FC01C106D}"/>
              </a:ext>
            </a:extLst>
          </p:cNvPr>
          <p:cNvSpPr txBox="1"/>
          <p:nvPr/>
        </p:nvSpPr>
        <p:spPr>
          <a:xfrm>
            <a:off x="3163170" y="2231857"/>
            <a:ext cx="2451098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Email Capture:</a:t>
            </a:r>
          </a:p>
          <a:p>
            <a:r>
              <a:rPr lang="en-US" sz="1400">
                <a:solidFill>
                  <a:srgbClr val="FF0000"/>
                </a:solidFill>
              </a:rPr>
              <a:t>Website Landing Pages</a:t>
            </a:r>
          </a:p>
          <a:p>
            <a:r>
              <a:rPr lang="en-US" sz="1400">
                <a:solidFill>
                  <a:srgbClr val="00B050"/>
                </a:solidFill>
              </a:rPr>
              <a:t>10-20 website landing pages</a:t>
            </a:r>
            <a:endParaRPr lang="en-US" sz="1400"/>
          </a:p>
          <a:p>
            <a:r>
              <a:rPr lang="en-US" sz="1400"/>
              <a:t>Offer Free Reports in exchange for </a:t>
            </a:r>
            <a:r>
              <a:rPr lang="en-US" sz="1400">
                <a:solidFill>
                  <a:srgbClr val="FF0000"/>
                </a:solidFill>
              </a:rPr>
              <a:t>email address</a:t>
            </a:r>
            <a:r>
              <a:rPr lang="en-US" sz="1400"/>
              <a:t>. </a:t>
            </a:r>
          </a:p>
          <a:p>
            <a:r>
              <a:rPr lang="en-US" sz="1400"/>
              <a:t>The Free Repots explains how to avoid costly mistakes, how to do things easier, cheaper, faster, more effectively, etc.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024347-D316-C03A-39D8-9D8AF19528B7}"/>
              </a:ext>
            </a:extLst>
          </p:cNvPr>
          <p:cNvSpPr txBox="1"/>
          <p:nvPr/>
        </p:nvSpPr>
        <p:spPr>
          <a:xfrm>
            <a:off x="6536704" y="2495642"/>
            <a:ext cx="2451098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Email Autoresponder</a:t>
            </a:r>
          </a:p>
          <a:p>
            <a:r>
              <a:rPr lang="en-US" sz="1400">
                <a:solidFill>
                  <a:srgbClr val="00B050"/>
                </a:solidFill>
              </a:rPr>
              <a:t>10-20 targeted sequences</a:t>
            </a:r>
            <a:endParaRPr lang="en-US" sz="1400"/>
          </a:p>
          <a:p>
            <a:r>
              <a:rPr lang="en-US" sz="1400">
                <a:solidFill>
                  <a:srgbClr val="FF0000"/>
                </a:solidFill>
              </a:rPr>
              <a:t>Builds relationship</a:t>
            </a:r>
          </a:p>
          <a:p>
            <a:r>
              <a:rPr lang="en-US" sz="1400"/>
              <a:t>Educational Marketing</a:t>
            </a:r>
          </a:p>
          <a:p>
            <a:r>
              <a:rPr lang="en-US" sz="1400"/>
              <a:t>Build trust, Triggers Sales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92E999-75D0-4625-5B7F-004D30938B82}"/>
              </a:ext>
            </a:extLst>
          </p:cNvPr>
          <p:cNvSpPr txBox="1"/>
          <p:nvPr/>
        </p:nvSpPr>
        <p:spPr>
          <a:xfrm>
            <a:off x="9661481" y="2922522"/>
            <a:ext cx="1498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Sales People</a:t>
            </a:r>
          </a:p>
          <a:p>
            <a:r>
              <a:rPr lang="en-US" sz="1400"/>
              <a:t>Closing Sales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C8CFC45-E727-DD0B-9D82-C2C9837D7E53}"/>
              </a:ext>
            </a:extLst>
          </p:cNvPr>
          <p:cNvCxnSpPr/>
          <p:nvPr/>
        </p:nvCxnSpPr>
        <p:spPr>
          <a:xfrm>
            <a:off x="762000" y="889000"/>
            <a:ext cx="9956800" cy="1540251"/>
          </a:xfrm>
          <a:prstGeom prst="line">
            <a:avLst/>
          </a:prstGeom>
          <a:ln w="88900">
            <a:solidFill>
              <a:srgbClr val="92D050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D9AB1B-464D-8E23-BC81-EBFAA7D5D636}"/>
              </a:ext>
            </a:extLst>
          </p:cNvPr>
          <p:cNvCxnSpPr>
            <a:cxnSpLocks/>
          </p:cNvCxnSpPr>
          <p:nvPr/>
        </p:nvCxnSpPr>
        <p:spPr>
          <a:xfrm flipV="1">
            <a:off x="762000" y="3879798"/>
            <a:ext cx="9956800" cy="1967881"/>
          </a:xfrm>
          <a:prstGeom prst="line">
            <a:avLst/>
          </a:prstGeom>
          <a:ln w="88900">
            <a:solidFill>
              <a:srgbClr val="92D050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BCC68EE-9FBD-003E-1CA1-7841A42F09D0}"/>
              </a:ext>
            </a:extLst>
          </p:cNvPr>
          <p:cNvSpPr txBox="1"/>
          <p:nvPr/>
        </p:nvSpPr>
        <p:spPr>
          <a:xfrm>
            <a:off x="6606755" y="5213329"/>
            <a:ext cx="25372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solidFill>
                  <a:srgbClr val="00B0F0"/>
                </a:solidFill>
              </a:rPr>
              <a:t>Marketing is All About </a:t>
            </a:r>
          </a:p>
          <a:p>
            <a:pPr algn="ctr"/>
            <a:r>
              <a:rPr lang="en-US" b="1">
                <a:solidFill>
                  <a:srgbClr val="00B0F0"/>
                </a:solidFill>
              </a:rPr>
              <a:t>Building Relationships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F2F82CC-19BF-34DF-2E65-B216FA835FE7}"/>
              </a:ext>
            </a:extLst>
          </p:cNvPr>
          <p:cNvCxnSpPr>
            <a:cxnSpLocks/>
          </p:cNvCxnSpPr>
          <p:nvPr/>
        </p:nvCxnSpPr>
        <p:spPr>
          <a:xfrm>
            <a:off x="1127760" y="3793533"/>
            <a:ext cx="0" cy="809831"/>
          </a:xfrm>
          <a:prstGeom prst="straightConnector1">
            <a:avLst/>
          </a:prstGeom>
          <a:ln w="76200">
            <a:solidFill>
              <a:srgbClr val="92D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F0915E2D-137D-F463-5DF6-F8AC3A806CAD}"/>
              </a:ext>
            </a:extLst>
          </p:cNvPr>
          <p:cNvSpPr/>
          <p:nvPr/>
        </p:nvSpPr>
        <p:spPr>
          <a:xfrm>
            <a:off x="6594791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5623690-EECA-8552-EA9A-C5F1745571B3}"/>
              </a:ext>
            </a:extLst>
          </p:cNvPr>
          <p:cNvSpPr/>
          <p:nvPr/>
        </p:nvSpPr>
        <p:spPr>
          <a:xfrm>
            <a:off x="6830038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B7D20F8-672F-5710-8457-33E360572E22}"/>
              </a:ext>
            </a:extLst>
          </p:cNvPr>
          <p:cNvSpPr/>
          <p:nvPr/>
        </p:nvSpPr>
        <p:spPr>
          <a:xfrm>
            <a:off x="7065285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2FE7564-EBE3-601C-9933-AFD33CA0FF17}"/>
              </a:ext>
            </a:extLst>
          </p:cNvPr>
          <p:cNvSpPr/>
          <p:nvPr/>
        </p:nvSpPr>
        <p:spPr>
          <a:xfrm>
            <a:off x="7300532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03A4E67-0D11-8FD4-556D-50CE588A6DF0}"/>
              </a:ext>
            </a:extLst>
          </p:cNvPr>
          <p:cNvSpPr/>
          <p:nvPr/>
        </p:nvSpPr>
        <p:spPr>
          <a:xfrm>
            <a:off x="7535779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1F55F18-155C-C290-057D-FEF9ADAA9ED7}"/>
              </a:ext>
            </a:extLst>
          </p:cNvPr>
          <p:cNvSpPr/>
          <p:nvPr/>
        </p:nvSpPr>
        <p:spPr>
          <a:xfrm>
            <a:off x="7771026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CFAAA32-AD1E-50B2-9FA5-AEAD096CC0E9}"/>
              </a:ext>
            </a:extLst>
          </p:cNvPr>
          <p:cNvSpPr/>
          <p:nvPr/>
        </p:nvSpPr>
        <p:spPr>
          <a:xfrm>
            <a:off x="8006273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2C39B53-F979-CAB4-43C1-0806CACCDADD}"/>
              </a:ext>
            </a:extLst>
          </p:cNvPr>
          <p:cNvSpPr/>
          <p:nvPr/>
        </p:nvSpPr>
        <p:spPr>
          <a:xfrm>
            <a:off x="8241520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2DA5C76-02F1-8B5C-62BF-4AB3B2E3FE96}"/>
              </a:ext>
            </a:extLst>
          </p:cNvPr>
          <p:cNvSpPr/>
          <p:nvPr/>
        </p:nvSpPr>
        <p:spPr>
          <a:xfrm>
            <a:off x="8476766" y="3867761"/>
            <a:ext cx="130594" cy="13059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478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E0F8C94-6073-C6DF-83C0-6F0A6F0EBB17}"/>
              </a:ext>
            </a:extLst>
          </p:cNvPr>
          <p:cNvSpPr txBox="1"/>
          <p:nvPr/>
        </p:nvSpPr>
        <p:spPr>
          <a:xfrm>
            <a:off x="1271943" y="4225330"/>
            <a:ext cx="6678449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YouTube, LinkedIn posts, Facebook, other social media, blogging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Host-parasite relationships: partnerships, celebrities, thought leaders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Paid online advertising (Facebook, Google, Linkedin, Advertising exchanges, ...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Television, radio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Paper/Print: classified ads, ads in magazines and newspapers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Mailing lists (SRDS catalog)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Direct mail - letters, postcards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Subscriptions – monthly newsletter, e-magazine, email autoresponder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Multi-step marketing funnel</a:t>
            </a:r>
            <a:r>
              <a:rPr lang="en-US" sz="1400"/>
              <a:t> (small ad =&gt; pre-recorded message =&gt; free report =&gt; ...)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326137-CDAE-41C6-831A-EF3D435DC7B8}"/>
              </a:ext>
            </a:extLst>
          </p:cNvPr>
          <p:cNvSpPr txBox="1"/>
          <p:nvPr/>
        </p:nvSpPr>
        <p:spPr>
          <a:xfrm>
            <a:off x="7479761" y="2356083"/>
            <a:ext cx="3996998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Copywriting - science and art.</a:t>
            </a:r>
          </a:p>
          <a:p>
            <a:r>
              <a:rPr lang="en-US" sz="1400">
                <a:solidFill>
                  <a:srgbClr val="FF0000"/>
                </a:solidFill>
              </a:rPr>
              <a:t>"Always enter the conversation already occurring in the prospect's mind."</a:t>
            </a:r>
            <a:r>
              <a:rPr lang="en-US" sz="1400"/>
              <a:t> </a:t>
            </a:r>
          </a:p>
          <a:p>
            <a:r>
              <a:rPr lang="en-US" sz="1400"/>
              <a:t>(This was famously stated in 1937 by </a:t>
            </a:r>
            <a:r>
              <a:rPr lang="en-US" sz="1400">
                <a:solidFill>
                  <a:srgbClr val="00B050"/>
                </a:solidFill>
              </a:rPr>
              <a:t>Robert Collier</a:t>
            </a:r>
            <a:r>
              <a:rPr lang="en-US" sz="1400"/>
              <a:t> in one of the best classic marketing books available: "The Robert Collier Letter Book".)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AA18E2-BF5A-DD33-6A23-D7522F8CDD8E}"/>
              </a:ext>
            </a:extLst>
          </p:cNvPr>
          <p:cNvSpPr txBox="1"/>
          <p:nvPr/>
        </p:nvSpPr>
        <p:spPr>
          <a:xfrm>
            <a:off x="84083" y="84082"/>
            <a:ext cx="30374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Three Things ...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2EC960-AD19-1B3D-472E-0464E037E111}"/>
              </a:ext>
            </a:extLst>
          </p:cNvPr>
          <p:cNvSpPr txBox="1"/>
          <p:nvPr/>
        </p:nvSpPr>
        <p:spPr>
          <a:xfrm>
            <a:off x="1410185" y="2073281"/>
            <a:ext cx="4085581" cy="147732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50"/>
                </a:solidFill>
              </a:rPr>
              <a:t>There are three things you need </a:t>
            </a:r>
          </a:p>
          <a:p>
            <a:r>
              <a:rPr lang="en-US" b="1">
                <a:solidFill>
                  <a:srgbClr val="00B050"/>
                </a:solidFill>
              </a:rPr>
              <a:t>in order to sell something…</a:t>
            </a:r>
            <a:endParaRPr lang="en-US">
              <a:solidFill>
                <a:srgbClr val="00B0F0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/>
              <a:t>Market (targeted mailing list)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Message (sales letter)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Media (delivery mechanism)</a:t>
            </a:r>
            <a:endParaRPr lang="en-US">
              <a:solidFill>
                <a:srgbClr val="7030A0"/>
              </a:solidFill>
            </a:endParaRPr>
          </a:p>
        </p:txBody>
      </p:sp>
      <p:pic>
        <p:nvPicPr>
          <p:cNvPr id="4098" name="Picture 2" descr="Brand New! Dan Kennedy's “Never Out of Work” Program!">
            <a:extLst>
              <a:ext uri="{FF2B5EF4-FFF2-40B4-BE49-F238E27FC236}">
                <a16:creationId xmlns:a16="http://schemas.microsoft.com/office/drawing/2014/main" id="{6CA1757B-CFB0-C092-3D00-133A698B64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730295" y="231392"/>
            <a:ext cx="1070528" cy="147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6AE8B3C-924A-58C9-BE24-56AE458B1F5D}"/>
              </a:ext>
            </a:extLst>
          </p:cNvPr>
          <p:cNvSpPr txBox="1"/>
          <p:nvPr/>
        </p:nvSpPr>
        <p:spPr>
          <a:xfrm>
            <a:off x="3573297" y="1721088"/>
            <a:ext cx="13845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Dan Kennedy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61E47F7-EC09-069F-3C54-B8D513DB78F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15873" y="187358"/>
            <a:ext cx="1384523" cy="151525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DA2E486-7EDA-AE23-5B91-7CE91B9B58A7}"/>
              </a:ext>
            </a:extLst>
          </p:cNvPr>
          <p:cNvSpPr txBox="1"/>
          <p:nvPr/>
        </p:nvSpPr>
        <p:spPr>
          <a:xfrm>
            <a:off x="8672870" y="1702608"/>
            <a:ext cx="34926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Robert Collier</a:t>
            </a:r>
          </a:p>
          <a:p>
            <a:r>
              <a:rPr lang="en-US" sz="1000">
                <a:hlinkClick r:id="rId4"/>
              </a:rPr>
              <a:t>https://en.wikipedia.org/wiki/Robert_Collier_%28author%29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2841672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D024D0-48D8-E973-15B2-8889105B8783}"/>
              </a:ext>
            </a:extLst>
          </p:cNvPr>
          <p:cNvSpPr txBox="1"/>
          <p:nvPr/>
        </p:nvSpPr>
        <p:spPr>
          <a:xfrm>
            <a:off x="1002" y="2248929"/>
            <a:ext cx="1461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Gary Halbert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9FD4D4-B91D-E0D7-413E-AA302D9EBC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2754" y="2899632"/>
            <a:ext cx="1119390" cy="160072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B18AF02-0762-CC52-6881-0A40E7065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493" y="2962146"/>
            <a:ext cx="965200" cy="13208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E668C9A-5298-7B89-C341-350ECE2B2D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5730" y="2874233"/>
            <a:ext cx="1144642" cy="157388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1F13966-DEA4-17AA-5789-F9F818CC91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1028" y="5037728"/>
            <a:ext cx="1105783" cy="12708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22C936E-F2A5-2870-5B78-9EF2AEBEDF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5613" y="872933"/>
            <a:ext cx="1282700" cy="162574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CD3CBD5-F68C-834C-7B9D-52C1B0766400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42113" y="4972211"/>
            <a:ext cx="1074432" cy="129482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8B9A1E9-D4C2-E79E-A62F-A953044ED21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32568" y="2950992"/>
            <a:ext cx="1061712" cy="145454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AB588CD-1374-40EE-6991-145EFD22FE74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62379" y="907360"/>
            <a:ext cx="1282700" cy="149821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D79AFB0-37F2-F014-F36A-E3AAF38C806B}"/>
              </a:ext>
            </a:extLst>
          </p:cNvPr>
          <p:cNvPicPr>
            <a:picLocks noChangeAspect="1"/>
          </p:cNvPicPr>
          <p:nvPr/>
        </p:nvPicPr>
        <p:blipFill rotWithShape="1"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971287" y="851535"/>
            <a:ext cx="1282700" cy="155404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5FE0A24-4B4B-2A63-09D5-46477C58C34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05772" y="2971149"/>
            <a:ext cx="991253" cy="147696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C17CE06-C7A4-D45C-919D-5BED66F4A0A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66501" y="4843929"/>
            <a:ext cx="1079500" cy="13589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8C4B38FA-0499-362A-0527-23EA6F50F91F}"/>
              </a:ext>
            </a:extLst>
          </p:cNvPr>
          <p:cNvSpPr txBox="1"/>
          <p:nvPr/>
        </p:nvSpPr>
        <p:spPr>
          <a:xfrm>
            <a:off x="1463104" y="2371252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Jay Abraham</a:t>
            </a:r>
          </a:p>
        </p:txBody>
      </p:sp>
      <p:pic>
        <p:nvPicPr>
          <p:cNvPr id="1026" name="Picture 2" descr="Ken McCarthy">
            <a:extLst>
              <a:ext uri="{FF2B5EF4-FFF2-40B4-BE49-F238E27FC236}">
                <a16:creationId xmlns:a16="http://schemas.microsoft.com/office/drawing/2014/main" id="{F1463AAC-C91F-5649-6B45-6B84656A93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160050" y="862462"/>
            <a:ext cx="1496108" cy="1496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1ADAC591-7AE9-4E32-7CA2-D46908FE4529}"/>
              </a:ext>
            </a:extLst>
          </p:cNvPr>
          <p:cNvSpPr txBox="1"/>
          <p:nvPr/>
        </p:nvSpPr>
        <p:spPr>
          <a:xfrm>
            <a:off x="5000255" y="2400708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Dan Kennedy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140E6BE5-5782-3E2F-142A-9FDA845C0858}"/>
              </a:ext>
            </a:extLst>
          </p:cNvPr>
          <p:cNvPicPr>
            <a:picLocks noChangeAspect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8836" y="3100054"/>
            <a:ext cx="1374860" cy="1053881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F01917E-7A33-6ECA-387E-75FCD878ADC6}"/>
              </a:ext>
            </a:extLst>
          </p:cNvPr>
          <p:cNvSpPr txBox="1"/>
          <p:nvPr/>
        </p:nvSpPr>
        <p:spPr>
          <a:xfrm>
            <a:off x="3253957" y="2344792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Ken McCarthy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6C2F84-4409-B5CB-F522-6A70FF69C84F}"/>
              </a:ext>
            </a:extLst>
          </p:cNvPr>
          <p:cNvSpPr txBox="1"/>
          <p:nvPr/>
        </p:nvSpPr>
        <p:spPr>
          <a:xfrm>
            <a:off x="6687523" y="2515033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Joe Sugarman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3C104E-0C54-D0FA-A90D-FA3C1E644630}"/>
              </a:ext>
            </a:extLst>
          </p:cNvPr>
          <p:cNvSpPr txBox="1"/>
          <p:nvPr/>
        </p:nvSpPr>
        <p:spPr>
          <a:xfrm>
            <a:off x="302798" y="4169199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Joe Polish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8CD55E-3F20-A351-D22D-746FBF18C577}"/>
              </a:ext>
            </a:extLst>
          </p:cNvPr>
          <p:cNvSpPr txBox="1"/>
          <p:nvPr/>
        </p:nvSpPr>
        <p:spPr>
          <a:xfrm>
            <a:off x="10594499" y="4444478"/>
            <a:ext cx="1411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Paul Hartunian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DF8B202-423B-F834-1EEC-7ED53B62E9A6}"/>
              </a:ext>
            </a:extLst>
          </p:cNvPr>
          <p:cNvSpPr txBox="1"/>
          <p:nvPr/>
        </p:nvSpPr>
        <p:spPr>
          <a:xfrm>
            <a:off x="2589545" y="6266687"/>
            <a:ext cx="9657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Frank Kern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F8C6211-39E8-27FA-FD35-E6D386F96EFD}"/>
              </a:ext>
            </a:extLst>
          </p:cNvPr>
          <p:cNvSpPr txBox="1"/>
          <p:nvPr/>
        </p:nvSpPr>
        <p:spPr>
          <a:xfrm>
            <a:off x="3358552" y="4314348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Ten Nicholas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D79F227-F775-203D-E26F-95EED8F845B0}"/>
              </a:ext>
            </a:extLst>
          </p:cNvPr>
          <p:cNvSpPr txBox="1"/>
          <p:nvPr/>
        </p:nvSpPr>
        <p:spPr>
          <a:xfrm>
            <a:off x="5885732" y="4460105"/>
            <a:ext cx="938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Jeff Paul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C936025-9B9B-488E-B916-2AAFFB254A6A}"/>
              </a:ext>
            </a:extLst>
          </p:cNvPr>
          <p:cNvSpPr txBox="1"/>
          <p:nvPr/>
        </p:nvSpPr>
        <p:spPr>
          <a:xfrm>
            <a:off x="6557821" y="6373476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Jeffrey Lant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5B2396B-345E-089E-9208-5FB9E62D51CE}"/>
              </a:ext>
            </a:extLst>
          </p:cNvPr>
          <p:cNvSpPr txBox="1"/>
          <p:nvPr/>
        </p:nvSpPr>
        <p:spPr>
          <a:xfrm>
            <a:off x="8161257" y="4453749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Brian Tracy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CCC38D7-9A66-4D5F-E48B-060389E4D2D3}"/>
              </a:ext>
            </a:extLst>
          </p:cNvPr>
          <p:cNvSpPr txBox="1"/>
          <p:nvPr/>
        </p:nvSpPr>
        <p:spPr>
          <a:xfrm>
            <a:off x="9318983" y="4486073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Zig Ziglar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A7E541-5E46-E0CD-CF54-625BC439CB01}"/>
              </a:ext>
            </a:extLst>
          </p:cNvPr>
          <p:cNvSpPr txBox="1"/>
          <p:nvPr/>
        </p:nvSpPr>
        <p:spPr>
          <a:xfrm>
            <a:off x="9676678" y="6359843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Robert Allen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9D734C3-9216-5C38-340B-55B799140DD2}"/>
              </a:ext>
            </a:extLst>
          </p:cNvPr>
          <p:cNvSpPr txBox="1"/>
          <p:nvPr/>
        </p:nvSpPr>
        <p:spPr>
          <a:xfrm>
            <a:off x="10877359" y="6359843"/>
            <a:ext cx="11285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Mike Enlow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F89707CA-730D-CDFF-04EF-2FEB974B6FD4}"/>
              </a:ext>
            </a:extLst>
          </p:cNvPr>
          <p:cNvPicPr>
            <a:picLocks noChangeAspect="1"/>
          </p:cNvPicPr>
          <p:nvPr/>
        </p:nvPicPr>
        <p:blipFill>
          <a:blip r:embed="rId1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29923" y="862462"/>
            <a:ext cx="1572329" cy="1649028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6FEBFD51-3C80-9156-1094-3B8538859EDA}"/>
              </a:ext>
            </a:extLst>
          </p:cNvPr>
          <p:cNvSpPr txBox="1"/>
          <p:nvPr/>
        </p:nvSpPr>
        <p:spPr>
          <a:xfrm>
            <a:off x="8419939" y="2515034"/>
            <a:ext cx="1572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Gary Bencivenga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7A2765F-965C-5D94-2DBB-F66F1C866BA1}"/>
              </a:ext>
            </a:extLst>
          </p:cNvPr>
          <p:cNvPicPr>
            <a:picLocks noChangeAspect="1"/>
          </p:cNvPicPr>
          <p:nvPr/>
        </p:nvPicPr>
        <p:blipFill rotWithShape="1">
          <a:blip r:embed="rId1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569107" y="4818055"/>
            <a:ext cx="1088609" cy="1410648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E977961F-738B-C7B6-7492-9BBDD81D01E0}"/>
              </a:ext>
            </a:extLst>
          </p:cNvPr>
          <p:cNvSpPr txBox="1"/>
          <p:nvPr/>
        </p:nvSpPr>
        <p:spPr>
          <a:xfrm>
            <a:off x="1300709" y="6276401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Bob Serling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AF0A3377-FDCD-B849-41DF-4767A6569F9D}"/>
              </a:ext>
            </a:extLst>
          </p:cNvPr>
          <p:cNvPicPr>
            <a:picLocks noChangeAspect="1"/>
          </p:cNvPicPr>
          <p:nvPr/>
        </p:nvPicPr>
        <p:blipFill>
          <a:blip r:embed="rId1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17698" y="5013468"/>
            <a:ext cx="1270825" cy="1270825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33515F78-4F73-1F17-8555-02AEF171B280}"/>
              </a:ext>
            </a:extLst>
          </p:cNvPr>
          <p:cNvSpPr txBox="1"/>
          <p:nvPr/>
        </p:nvSpPr>
        <p:spPr>
          <a:xfrm>
            <a:off x="7942170" y="6293674"/>
            <a:ext cx="194074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Bill Myers</a:t>
            </a:r>
          </a:p>
          <a:p>
            <a:pPr algn="ctr"/>
            <a:r>
              <a:rPr lang="en-US" sz="1200"/>
              <a:t>https://www.bmyers.com</a:t>
            </a:r>
          </a:p>
        </p:txBody>
      </p:sp>
      <p:pic>
        <p:nvPicPr>
          <p:cNvPr id="1032" name="Picture 8" descr="Insights from copywriting legend Gary Halbert - Copy Dojo">
            <a:extLst>
              <a:ext uri="{FF2B5EF4-FFF2-40B4-BE49-F238E27FC236}">
                <a16:creationId xmlns:a16="http://schemas.microsoft.com/office/drawing/2014/main" id="{8AB05F49-47E9-D0F9-52A3-A67AA068E2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4081" y="851535"/>
            <a:ext cx="1355220" cy="1351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135C1E17-7BF6-80FF-4270-8158A9FE955E}"/>
              </a:ext>
            </a:extLst>
          </p:cNvPr>
          <p:cNvPicPr>
            <a:picLocks noChangeAspect="1"/>
          </p:cNvPicPr>
          <p:nvPr/>
        </p:nvPicPr>
        <p:blipFill>
          <a:blip r:embed="rId1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88803" y="2962146"/>
            <a:ext cx="1406511" cy="1410648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711E2303-7A21-B48C-F562-9278DCCADE2B}"/>
              </a:ext>
            </a:extLst>
          </p:cNvPr>
          <p:cNvSpPr txBox="1"/>
          <p:nvPr/>
        </p:nvSpPr>
        <p:spPr>
          <a:xfrm>
            <a:off x="1830675" y="4347975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Dean Jackson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D621CA2E-956D-E905-E8E6-1358FC9473D9}"/>
              </a:ext>
            </a:extLst>
          </p:cNvPr>
          <p:cNvPicPr>
            <a:picLocks noChangeAspect="1"/>
          </p:cNvPicPr>
          <p:nvPr/>
        </p:nvPicPr>
        <p:blipFill>
          <a:blip r:embed="rId2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12387" y="880482"/>
            <a:ext cx="1506044" cy="1573883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6E7D7325-78A6-D7B0-48AD-92B8AFCB3D57}"/>
              </a:ext>
            </a:extLst>
          </p:cNvPr>
          <p:cNvSpPr txBox="1"/>
          <p:nvPr/>
        </p:nvSpPr>
        <p:spPr>
          <a:xfrm>
            <a:off x="10271125" y="2478458"/>
            <a:ext cx="1572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Robert Cialdini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E412054-73FA-D017-3B19-E00DC037BFB5}"/>
              </a:ext>
            </a:extLst>
          </p:cNvPr>
          <p:cNvSpPr txBox="1"/>
          <p:nvPr/>
        </p:nvSpPr>
        <p:spPr>
          <a:xfrm>
            <a:off x="3756301" y="6373476"/>
            <a:ext cx="12587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Stuart Goldsmith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737625E7-7189-E505-F95F-83A2F25AFECF}"/>
              </a:ext>
            </a:extLst>
          </p:cNvPr>
          <p:cNvPicPr>
            <a:picLocks noChangeAspect="1"/>
          </p:cNvPicPr>
          <p:nvPr/>
        </p:nvPicPr>
        <p:blipFill>
          <a:blip r:embed="rId2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10702" y="5034640"/>
            <a:ext cx="1109472" cy="132520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2EF79D2-1C4D-20EE-2373-3F185D4E944D}"/>
              </a:ext>
            </a:extLst>
          </p:cNvPr>
          <p:cNvSpPr txBox="1"/>
          <p:nvPr/>
        </p:nvSpPr>
        <p:spPr>
          <a:xfrm>
            <a:off x="6961486" y="4498205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Joe Girard</a:t>
            </a:r>
          </a:p>
        </p:txBody>
      </p:sp>
      <p:pic>
        <p:nvPicPr>
          <p:cNvPr id="1040" name="Picture 16" descr="10 bizarre and daring feats of salesmanship - Joe Girard (7) - FORTUNE">
            <a:extLst>
              <a:ext uri="{FF2B5EF4-FFF2-40B4-BE49-F238E27FC236}">
                <a16:creationId xmlns:a16="http://schemas.microsoft.com/office/drawing/2014/main" id="{0BDAEA8E-F072-2017-9BDD-81203EF6D3A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994152" y="2921898"/>
            <a:ext cx="1196152" cy="156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651B47E-50FE-CB92-9F80-3CC2CF13EFE1}"/>
              </a:ext>
            </a:extLst>
          </p:cNvPr>
          <p:cNvPicPr>
            <a:picLocks noChangeAspect="1"/>
          </p:cNvPicPr>
          <p:nvPr/>
        </p:nvPicPr>
        <p:blipFill>
          <a:blip r:embed="rId2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40640" y="4957623"/>
            <a:ext cx="1166271" cy="13509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108628B-A87C-F1B6-D3EF-FE5E9F8E108A}"/>
              </a:ext>
            </a:extLst>
          </p:cNvPr>
          <p:cNvPicPr>
            <a:picLocks noChangeAspect="1"/>
          </p:cNvPicPr>
          <p:nvPr/>
        </p:nvPicPr>
        <p:blipFill>
          <a:blip r:embed="rId2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361" y="4835630"/>
            <a:ext cx="1168794" cy="147369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F25D7B4-4BF9-7BAA-1339-ECF0D4DBC643}"/>
              </a:ext>
            </a:extLst>
          </p:cNvPr>
          <p:cNvSpPr txBox="1"/>
          <p:nvPr/>
        </p:nvSpPr>
        <p:spPr>
          <a:xfrm>
            <a:off x="54700" y="6341224"/>
            <a:ext cx="125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Brian Kurtz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4DE5D4-BEA6-F188-7843-A16B7651EDE4}"/>
              </a:ext>
            </a:extLst>
          </p:cNvPr>
          <p:cNvSpPr txBox="1"/>
          <p:nvPr/>
        </p:nvSpPr>
        <p:spPr>
          <a:xfrm>
            <a:off x="4571894" y="4319150"/>
            <a:ext cx="12024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John Carlton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F8444B-BA9A-05C9-E3C5-CE2499D45378}"/>
              </a:ext>
            </a:extLst>
          </p:cNvPr>
          <p:cNvPicPr>
            <a:picLocks noChangeAspect="1"/>
          </p:cNvPicPr>
          <p:nvPr/>
        </p:nvPicPr>
        <p:blipFill>
          <a:blip r:embed="rId2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2764" y="2958562"/>
            <a:ext cx="1129932" cy="137463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3298DB9-A1DF-8245-1FAD-F6A15A4BA2D0}"/>
              </a:ext>
            </a:extLst>
          </p:cNvPr>
          <p:cNvSpPr txBox="1"/>
          <p:nvPr/>
        </p:nvSpPr>
        <p:spPr>
          <a:xfrm>
            <a:off x="5289782" y="6394741"/>
            <a:ext cx="11338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Alex Mandossian</a:t>
            </a:r>
          </a:p>
        </p:txBody>
      </p:sp>
      <p:pic>
        <p:nvPicPr>
          <p:cNvPr id="2052" name="Picture 4" descr="Alex Mandossian - YouTube">
            <a:extLst>
              <a:ext uri="{FF2B5EF4-FFF2-40B4-BE49-F238E27FC236}">
                <a16:creationId xmlns:a16="http://schemas.microsoft.com/office/drawing/2014/main" id="{2090BA26-9BE9-F75E-AB4C-2E6D289323D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340559" y="4929835"/>
            <a:ext cx="1075559" cy="1410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C1276A6-9E85-F005-4120-4740E9A713A8}"/>
              </a:ext>
            </a:extLst>
          </p:cNvPr>
          <p:cNvSpPr txBox="1"/>
          <p:nvPr/>
        </p:nvSpPr>
        <p:spPr>
          <a:xfrm>
            <a:off x="84083" y="84082"/>
            <a:ext cx="59020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Some Marketing People to Know ...</a:t>
            </a:r>
          </a:p>
        </p:txBody>
      </p:sp>
    </p:spTree>
    <p:extLst>
      <p:ext uri="{BB962C8B-B14F-4D97-AF65-F5344CB8AC3E}">
        <p14:creationId xmlns:p14="http://schemas.microsoft.com/office/powerpoint/2010/main" val="18768137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17 Inspiring &amp; Educational Books Every Copywriter Needs to Read">
            <a:extLst>
              <a:ext uri="{FF2B5EF4-FFF2-40B4-BE49-F238E27FC236}">
                <a16:creationId xmlns:a16="http://schemas.microsoft.com/office/drawing/2014/main" id="{49D48706-A75C-CDD2-A540-EA3F6EC5EC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12690" y="936057"/>
            <a:ext cx="1469467" cy="1934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Ultimate Sales Letter 2nd Ed: Kennedy, Dan S: 0045079202573: Amazon.com:  Books">
            <a:extLst>
              <a:ext uri="{FF2B5EF4-FFF2-40B4-BE49-F238E27FC236}">
                <a16:creationId xmlns:a16="http://schemas.microsoft.com/office/drawing/2014/main" id="{F6D7650D-A565-4473-6D70-07FD330A31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571933" y="936056"/>
            <a:ext cx="1400458" cy="2094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65BB4F09-1849-1039-2316-0C29333ABB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142545" y="923587"/>
            <a:ext cx="1400458" cy="2115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How To Make Maximum Money In Minimum Time: Halbert, Gary C., Halbert, Bond,  Halbert, Kevin C.: 9781500885335: Amazon.com: Books">
            <a:extLst>
              <a:ext uri="{FF2B5EF4-FFF2-40B4-BE49-F238E27FC236}">
                <a16:creationId xmlns:a16="http://schemas.microsoft.com/office/drawing/2014/main" id="{1422F400-CC1B-1515-33AD-35F51D222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77" y="3991942"/>
            <a:ext cx="1572768" cy="20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B0E2CAF-4F9C-E1C1-27E3-3771E4E58BD6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42742" y="3991942"/>
            <a:ext cx="1468175" cy="2032000"/>
          </a:xfrm>
          <a:prstGeom prst="rect">
            <a:avLst/>
          </a:prstGeom>
        </p:spPr>
      </p:pic>
      <p:pic>
        <p:nvPicPr>
          <p:cNvPr id="2058" name="Picture 10" descr="Tested Advertising Methods | Scientific Advertising">
            <a:extLst>
              <a:ext uri="{FF2B5EF4-FFF2-40B4-BE49-F238E27FC236}">
                <a16:creationId xmlns:a16="http://schemas.microsoft.com/office/drawing/2014/main" id="{EA924F99-3B5B-6000-4ACA-4D0A73E5A5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96393" y="936056"/>
            <a:ext cx="1331916" cy="2103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88D0292-9E46-06D7-8791-DA71B82BD16E}"/>
              </a:ext>
            </a:extLst>
          </p:cNvPr>
          <p:cNvSpPr txBox="1"/>
          <p:nvPr/>
        </p:nvSpPr>
        <p:spPr>
          <a:xfrm>
            <a:off x="84083" y="84082"/>
            <a:ext cx="30374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Some Books ...</a:t>
            </a:r>
          </a:p>
        </p:txBody>
      </p:sp>
      <p:pic>
        <p:nvPicPr>
          <p:cNvPr id="2060" name="Picture 12" descr="Daniel picked up &quot;Scientific Advertising&quot; by Claude C Hopkins | Family  reading, Advertising, Scientific">
            <a:extLst>
              <a:ext uri="{FF2B5EF4-FFF2-40B4-BE49-F238E27FC236}">
                <a16:creationId xmlns:a16="http://schemas.microsoft.com/office/drawing/2014/main" id="{FDC18349-1E79-0B0B-0CE0-187BFCA6FA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84083" y="918378"/>
            <a:ext cx="1314371" cy="1952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>
            <a:extLst>
              <a:ext uri="{FF2B5EF4-FFF2-40B4-BE49-F238E27FC236}">
                <a16:creationId xmlns:a16="http://schemas.microsoft.com/office/drawing/2014/main" id="{36E24B96-DF30-D37F-241A-DB8E922297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478814" y="4045235"/>
            <a:ext cx="1333603" cy="1925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System Secrets - Maximum Money in Minimum Time Online Kindle Edition">
            <a:extLst>
              <a:ext uri="{FF2B5EF4-FFF2-40B4-BE49-F238E27FC236}">
                <a16:creationId xmlns:a16="http://schemas.microsoft.com/office/drawing/2014/main" id="{D2BE5293-B927-C7CD-132C-7C490844BA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480314" y="3906811"/>
            <a:ext cx="1468175" cy="2202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The 22 Best Marketing Books You Need to Read in 2022">
            <a:extLst>
              <a:ext uri="{FF2B5EF4-FFF2-40B4-BE49-F238E27FC236}">
                <a16:creationId xmlns:a16="http://schemas.microsoft.com/office/drawing/2014/main" id="{BD8CFFDB-2D41-35B5-6473-5847A72345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16386" y="4036982"/>
            <a:ext cx="1281668" cy="1941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Hardcover The Robert Collier letter book">
            <a:extLst>
              <a:ext uri="{FF2B5EF4-FFF2-40B4-BE49-F238E27FC236}">
                <a16:creationId xmlns:a16="http://schemas.microsoft.com/office/drawing/2014/main" id="{5DC99545-AC52-C565-A738-A1A6A930A0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86628" y="947790"/>
            <a:ext cx="1519084" cy="2135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0" name="Picture 22" descr="Mass Market Paperback How to Sell Anything to Anybody Book">
            <a:extLst>
              <a:ext uri="{FF2B5EF4-FFF2-40B4-BE49-F238E27FC236}">
                <a16:creationId xmlns:a16="http://schemas.microsoft.com/office/drawing/2014/main" id="{E7951217-F0F3-73C2-1639-ABB081283E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565949" y="3940313"/>
            <a:ext cx="1232350" cy="2135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AD06594-67A2-EF83-EFD8-439FAAFEFEF4}"/>
              </a:ext>
            </a:extLst>
          </p:cNvPr>
          <p:cNvPicPr>
            <a:picLocks noChangeAspect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57239" y="918378"/>
            <a:ext cx="1400458" cy="212190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5CB0940-14C3-66E0-E60D-A9F68A0EEEB3}"/>
              </a:ext>
            </a:extLst>
          </p:cNvPr>
          <p:cNvSpPr txBox="1"/>
          <p:nvPr/>
        </p:nvSpPr>
        <p:spPr>
          <a:xfrm>
            <a:off x="5161394" y="3069937"/>
            <a:ext cx="12207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Joe Sugarman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899812-42FE-3072-B080-FFEA2C09E3E9}"/>
              </a:ext>
            </a:extLst>
          </p:cNvPr>
          <p:cNvSpPr txBox="1"/>
          <p:nvPr/>
        </p:nvSpPr>
        <p:spPr>
          <a:xfrm>
            <a:off x="6812211" y="3069937"/>
            <a:ext cx="14718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Eugene M. Schwartz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417232-E705-6587-4812-12243436B4C0}"/>
              </a:ext>
            </a:extLst>
          </p:cNvPr>
          <p:cNvSpPr txBox="1"/>
          <p:nvPr/>
        </p:nvSpPr>
        <p:spPr>
          <a:xfrm>
            <a:off x="3576942" y="3039082"/>
            <a:ext cx="12207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John Caples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5857AE-2E6E-0151-79D0-EE9D0F9BD5BE}"/>
              </a:ext>
            </a:extLst>
          </p:cNvPr>
          <p:cNvSpPr txBox="1"/>
          <p:nvPr/>
        </p:nvSpPr>
        <p:spPr>
          <a:xfrm>
            <a:off x="1745669" y="2944550"/>
            <a:ext cx="12140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David Ogilvy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5D0A30-722C-B8DD-C0A2-D6CD6007AF4F}"/>
              </a:ext>
            </a:extLst>
          </p:cNvPr>
          <p:cNvSpPr txBox="1"/>
          <p:nvPr/>
        </p:nvSpPr>
        <p:spPr>
          <a:xfrm>
            <a:off x="130231" y="2911491"/>
            <a:ext cx="12353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Claude Hopkins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D15BED-EB6F-3F1D-1BED-AE554FDC08A1}"/>
              </a:ext>
            </a:extLst>
          </p:cNvPr>
          <p:cNvSpPr txBox="1"/>
          <p:nvPr/>
        </p:nvSpPr>
        <p:spPr>
          <a:xfrm>
            <a:off x="124218" y="6141682"/>
            <a:ext cx="17861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Gary Halbert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C5FBEE-EC9A-7F56-2D7C-8E329C72F07B}"/>
              </a:ext>
            </a:extLst>
          </p:cNvPr>
          <p:cNvSpPr txBox="1"/>
          <p:nvPr/>
        </p:nvSpPr>
        <p:spPr>
          <a:xfrm>
            <a:off x="2352715" y="6141682"/>
            <a:ext cx="13634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Stuart Goldsmith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05776B-DBF1-D548-1120-B9337AF015D0}"/>
              </a:ext>
            </a:extLst>
          </p:cNvPr>
          <p:cNvSpPr txBox="1"/>
          <p:nvPr/>
        </p:nvSpPr>
        <p:spPr>
          <a:xfrm>
            <a:off x="4478814" y="6141681"/>
            <a:ext cx="1233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Ted Nicholas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AD69B7-AD1E-DBCF-2AE5-9C7201A83EE0}"/>
              </a:ext>
            </a:extLst>
          </p:cNvPr>
          <p:cNvSpPr txBox="1"/>
          <p:nvPr/>
        </p:nvSpPr>
        <p:spPr>
          <a:xfrm>
            <a:off x="6590096" y="6139850"/>
            <a:ext cx="12486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Ken McCarthy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C7C39D-7524-4BDE-4E48-B5973EA82784}"/>
              </a:ext>
            </a:extLst>
          </p:cNvPr>
          <p:cNvSpPr txBox="1"/>
          <p:nvPr/>
        </p:nvSpPr>
        <p:spPr>
          <a:xfrm>
            <a:off x="8586165" y="6167884"/>
            <a:ext cx="14004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Robert Cialdini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A93B73-8088-1A35-B0D1-96366DEAB4AF}"/>
              </a:ext>
            </a:extLst>
          </p:cNvPr>
          <p:cNvSpPr txBox="1"/>
          <p:nvPr/>
        </p:nvSpPr>
        <p:spPr>
          <a:xfrm>
            <a:off x="10582234" y="6139850"/>
            <a:ext cx="10976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Joe Girard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A8D589A-60C7-8BD7-6331-B3ACF7B7883F}"/>
              </a:ext>
            </a:extLst>
          </p:cNvPr>
          <p:cNvSpPr txBox="1"/>
          <p:nvPr/>
        </p:nvSpPr>
        <p:spPr>
          <a:xfrm>
            <a:off x="8650173" y="3060347"/>
            <a:ext cx="1214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Dan Kennedy</a:t>
            </a:r>
          </a:p>
          <a:p>
            <a:pPr algn="ctr"/>
            <a:r>
              <a:rPr lang="en-US" sz="1200"/>
              <a:t>(many books)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801055-5BAE-0B19-E5AF-4122F032C25A}"/>
              </a:ext>
            </a:extLst>
          </p:cNvPr>
          <p:cNvSpPr txBox="1"/>
          <p:nvPr/>
        </p:nvSpPr>
        <p:spPr>
          <a:xfrm>
            <a:off x="10408693" y="3083049"/>
            <a:ext cx="12140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/>
              <a:t>Robert Collier</a:t>
            </a:r>
          </a:p>
        </p:txBody>
      </p:sp>
    </p:spTree>
    <p:extLst>
      <p:ext uri="{BB962C8B-B14F-4D97-AF65-F5344CB8AC3E}">
        <p14:creationId xmlns:p14="http://schemas.microsoft.com/office/powerpoint/2010/main" val="2206367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A3C32E-01F2-E933-AB54-FD491D6A6FF9}"/>
              </a:ext>
            </a:extLst>
          </p:cNvPr>
          <p:cNvSpPr txBox="1"/>
          <p:nvPr/>
        </p:nvSpPr>
        <p:spPr>
          <a:xfrm>
            <a:off x="212099" y="230386"/>
            <a:ext cx="67094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Direct Response – multi-step optimization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B3D61D-3741-0A50-050F-E9642F907A50}"/>
              </a:ext>
            </a:extLst>
          </p:cNvPr>
          <p:cNvSpPr txBox="1"/>
          <p:nvPr/>
        </p:nvSpPr>
        <p:spPr>
          <a:xfrm>
            <a:off x="1789947" y="1349514"/>
            <a:ext cx="584200" cy="1754326"/>
          </a:xfrm>
          <a:prstGeom prst="rect">
            <a:avLst/>
          </a:prstGeom>
          <a:solidFill>
            <a:srgbClr val="92D050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/>
              <a:t>Step1</a:t>
            </a:r>
          </a:p>
          <a:p>
            <a:endParaRPr lang="en-US" sz="1200"/>
          </a:p>
          <a:p>
            <a:endParaRPr lang="en-US" sz="1200"/>
          </a:p>
          <a:p>
            <a:endParaRPr lang="en-US" sz="1200"/>
          </a:p>
          <a:p>
            <a:endParaRPr lang="en-US" sz="1200"/>
          </a:p>
          <a:p>
            <a:endParaRPr lang="en-US" sz="1200"/>
          </a:p>
          <a:p>
            <a:endParaRPr lang="en-US" sz="1200"/>
          </a:p>
          <a:p>
            <a:endParaRPr lang="en-US" sz="1200"/>
          </a:p>
          <a:p>
            <a:endParaRPr lang="en-US" sz="12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316C85-C20D-2E32-C4DA-F13B876F0BCA}"/>
              </a:ext>
            </a:extLst>
          </p:cNvPr>
          <p:cNvSpPr txBox="1"/>
          <p:nvPr/>
        </p:nvSpPr>
        <p:spPr>
          <a:xfrm>
            <a:off x="2706125" y="2079807"/>
            <a:ext cx="584200" cy="1015663"/>
          </a:xfrm>
          <a:prstGeom prst="rect">
            <a:avLst/>
          </a:prstGeom>
          <a:solidFill>
            <a:srgbClr val="92D050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/>
              <a:t>Step1</a:t>
            </a:r>
          </a:p>
          <a:p>
            <a:endParaRPr lang="en-US" sz="1200"/>
          </a:p>
          <a:p>
            <a:endParaRPr lang="en-US" sz="1200"/>
          </a:p>
          <a:p>
            <a:endParaRPr lang="en-US" sz="1200"/>
          </a:p>
          <a:p>
            <a:endParaRPr lang="en-US" sz="12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4D6203-C280-85C7-5C8A-9B3AA230E316}"/>
              </a:ext>
            </a:extLst>
          </p:cNvPr>
          <p:cNvSpPr txBox="1"/>
          <p:nvPr/>
        </p:nvSpPr>
        <p:spPr>
          <a:xfrm>
            <a:off x="3688603" y="2595818"/>
            <a:ext cx="584200" cy="461665"/>
          </a:xfrm>
          <a:prstGeom prst="rect">
            <a:avLst/>
          </a:prstGeom>
          <a:solidFill>
            <a:srgbClr val="92D050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/>
              <a:t>Step1</a:t>
            </a:r>
          </a:p>
          <a:p>
            <a:endParaRPr lang="en-US" sz="12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3F700D-643C-8E38-6CBC-FBE3C122257B}"/>
              </a:ext>
            </a:extLst>
          </p:cNvPr>
          <p:cNvSpPr txBox="1"/>
          <p:nvPr/>
        </p:nvSpPr>
        <p:spPr>
          <a:xfrm>
            <a:off x="4699289" y="2794286"/>
            <a:ext cx="584200" cy="276999"/>
          </a:xfrm>
          <a:prstGeom prst="rect">
            <a:avLst/>
          </a:prstGeom>
          <a:solidFill>
            <a:srgbClr val="92D050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/>
              <a:t>Step1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A9559B-DA48-DA65-CD98-C4F3731086E4}"/>
              </a:ext>
            </a:extLst>
          </p:cNvPr>
          <p:cNvSpPr txBox="1"/>
          <p:nvPr/>
        </p:nvSpPr>
        <p:spPr>
          <a:xfrm>
            <a:off x="5704948" y="2821659"/>
            <a:ext cx="584200" cy="215444"/>
          </a:xfrm>
          <a:prstGeom prst="rect">
            <a:avLst/>
          </a:prstGeom>
          <a:solidFill>
            <a:srgbClr val="92D050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/>
              <a:t>Step1</a:t>
            </a:r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4AF84898-9486-B7EC-2EDE-77CF9562079E}"/>
              </a:ext>
            </a:extLst>
          </p:cNvPr>
          <p:cNvSpPr/>
          <p:nvPr/>
        </p:nvSpPr>
        <p:spPr>
          <a:xfrm>
            <a:off x="1924189" y="3135292"/>
            <a:ext cx="4113028" cy="30216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5D7C33-4630-99AD-DB7C-8E5C32EF03F4}"/>
              </a:ext>
            </a:extLst>
          </p:cNvPr>
          <p:cNvSpPr txBox="1"/>
          <p:nvPr/>
        </p:nvSpPr>
        <p:spPr>
          <a:xfrm>
            <a:off x="1924189" y="3567699"/>
            <a:ext cx="41130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Out = In * conv1 * conv2 * conv3 * conv4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053EB959-EC8A-1952-A90A-AAF364987F51}"/>
              </a:ext>
            </a:extLst>
          </p:cNvPr>
          <p:cNvSpPr/>
          <p:nvPr/>
        </p:nvSpPr>
        <p:spPr>
          <a:xfrm>
            <a:off x="698500" y="1900756"/>
            <a:ext cx="787400" cy="50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F1F632-7312-544C-4CF7-3D250344B57D}"/>
              </a:ext>
            </a:extLst>
          </p:cNvPr>
          <p:cNvSpPr txBox="1"/>
          <p:nvPr/>
        </p:nvSpPr>
        <p:spPr>
          <a:xfrm>
            <a:off x="737489" y="1575235"/>
            <a:ext cx="609600" cy="3734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In</a:t>
            </a:r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E43E8D88-C58F-68F4-D0D2-735BA71169C9}"/>
              </a:ext>
            </a:extLst>
          </p:cNvPr>
          <p:cNvSpPr/>
          <p:nvPr/>
        </p:nvSpPr>
        <p:spPr>
          <a:xfrm>
            <a:off x="6616700" y="1938856"/>
            <a:ext cx="787400" cy="50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257FCA9-50E4-E7A9-8082-3A06EE6C740F}"/>
              </a:ext>
            </a:extLst>
          </p:cNvPr>
          <p:cNvSpPr txBox="1"/>
          <p:nvPr/>
        </p:nvSpPr>
        <p:spPr>
          <a:xfrm>
            <a:off x="6655689" y="1613335"/>
            <a:ext cx="609600" cy="3734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Out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C1A9041-F948-6F16-997C-10158C3EEB4B}"/>
              </a:ext>
            </a:extLst>
          </p:cNvPr>
          <p:cNvSpPr txBox="1"/>
          <p:nvPr/>
        </p:nvSpPr>
        <p:spPr>
          <a:xfrm>
            <a:off x="623189" y="2642035"/>
            <a:ext cx="874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Leads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F0F9F9E-F9BA-5991-CBF5-90A62F49AF01}"/>
              </a:ext>
            </a:extLst>
          </p:cNvPr>
          <p:cNvSpPr txBox="1"/>
          <p:nvPr/>
        </p:nvSpPr>
        <p:spPr>
          <a:xfrm>
            <a:off x="6655689" y="2654735"/>
            <a:ext cx="874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Sales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B43EC3-C4B5-7101-065A-63B3C1B8FC2D}"/>
              </a:ext>
            </a:extLst>
          </p:cNvPr>
          <p:cNvSpPr txBox="1"/>
          <p:nvPr/>
        </p:nvSpPr>
        <p:spPr>
          <a:xfrm>
            <a:off x="1347089" y="4479080"/>
            <a:ext cx="5803900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/>
              <a:t>If using A/B split testing we have improved conversions between steps above by 20%, </a:t>
            </a:r>
          </a:p>
          <a:p>
            <a:r>
              <a:rPr lang="en-US"/>
              <a:t>then overall improvement will be:</a:t>
            </a:r>
          </a:p>
          <a:p>
            <a:endParaRPr lang="en-US"/>
          </a:p>
          <a:p>
            <a:r>
              <a:rPr lang="en-US"/>
              <a:t>1.2 * 1.2 * 1.2 * 1.2 = 2.1</a:t>
            </a:r>
          </a:p>
          <a:p>
            <a:endParaRPr lang="en-US"/>
          </a:p>
          <a:p>
            <a:r>
              <a:rPr lang="en-US"/>
              <a:t>So we can doulbe our sales by just fine-tuning the messages</a:t>
            </a:r>
          </a:p>
        </p:txBody>
      </p:sp>
      <p:pic>
        <p:nvPicPr>
          <p:cNvPr id="5122" name="Picture 2" descr="100 Dollar Bill Pool Mosaic">
            <a:extLst>
              <a:ext uri="{FF2B5EF4-FFF2-40B4-BE49-F238E27FC236}">
                <a16:creationId xmlns:a16="http://schemas.microsoft.com/office/drawing/2014/main" id="{B07AFFE0-8303-FF70-53E4-E68F16ACB3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010730" y="3621830"/>
            <a:ext cx="2001362" cy="85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United States one-dollar bill - Wikipedia">
            <a:extLst>
              <a:ext uri="{FF2B5EF4-FFF2-40B4-BE49-F238E27FC236}">
                <a16:creationId xmlns:a16="http://schemas.microsoft.com/office/drawing/2014/main" id="{9D0A6DE7-0ACF-A8CF-CC14-4C77F80957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026799" y="2715939"/>
            <a:ext cx="2008445" cy="85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C22C1097-F1E5-FA75-58AE-C3BC498CC4E1}"/>
              </a:ext>
            </a:extLst>
          </p:cNvPr>
          <p:cNvSpPr txBox="1"/>
          <p:nvPr/>
        </p:nvSpPr>
        <p:spPr>
          <a:xfrm>
            <a:off x="10033882" y="4479080"/>
            <a:ext cx="215811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The $1 and $100 bills above take same amount of paper and ink to produce them.</a:t>
            </a:r>
          </a:p>
          <a:p>
            <a:endParaRPr lang="en-US" sz="1400"/>
          </a:p>
          <a:p>
            <a:r>
              <a:rPr lang="en-US" sz="1400"/>
              <a:t>The only difference in value between them is the message on the paper. </a:t>
            </a:r>
          </a:p>
        </p:txBody>
      </p:sp>
    </p:spTree>
    <p:extLst>
      <p:ext uri="{BB962C8B-B14F-4D97-AF65-F5344CB8AC3E}">
        <p14:creationId xmlns:p14="http://schemas.microsoft.com/office/powerpoint/2010/main" val="20910589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1911</TotalTime>
  <Words>730</Words>
  <Application>Microsoft Macintosh PowerPoint</Application>
  <PresentationFormat>Widescreen</PresentationFormat>
  <Paragraphs>155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177</cp:revision>
  <dcterms:created xsi:type="dcterms:W3CDTF">2021-08-13T19:21:10Z</dcterms:created>
  <dcterms:modified xsi:type="dcterms:W3CDTF">2022-09-11T21:50:55Z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2022-09-02T20:43:44Z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c1d4db92-49ba-4377-9ce0-a34b8c197608</vt:lpwstr>
  </property>
  <property fmtid="{D5CDD505-2E9C-101B-9397-08002B2CF9AE}" pid="8" name="MSIP_Label_4f518368-b969-4042-91d9-8939bd921da2_ContentBits">
    <vt:lpwstr>0</vt:lpwstr>
  </property>
</Properties>
</file>