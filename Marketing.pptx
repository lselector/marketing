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87" r:id="rId2"/>
    <p:sldId id="294" r:id="rId3"/>
    <p:sldId id="292" r:id="rId4"/>
    <p:sldId id="288" r:id="rId5"/>
    <p:sldId id="296" r:id="rId6"/>
    <p:sldId id="290" r:id="rId7"/>
    <p:sldId id="291" r:id="rId8"/>
    <p:sldId id="293" r:id="rId9"/>
    <p:sldId id="295" r:id="rId10"/>
    <p:sldId id="297" r:id="rId11"/>
    <p:sldId id="298" r:id="rId12"/>
    <p:sldId id="299" r:id="rId13"/>
    <p:sldId id="300" r:id="rId14"/>
    <p:sldId id="302" r:id="rId15"/>
    <p:sldId id="30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4152"/>
  </p:normalViewPr>
  <p:slideViewPr>
    <p:cSldViewPr snapToGrid="0" snapToObjects="1">
      <p:cViewPr varScale="1">
        <p:scale>
          <a:sx n="106" d="100"/>
          <a:sy n="106" d="100"/>
        </p:scale>
        <p:origin x="200"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9/18/22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8</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9/18/22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hyperlink" Target="https://en.wikipedia.org/wiki/Robert_Collier_%28author%29"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8.jpg"/><Relationship Id="rId13" Type="http://schemas.openxmlformats.org/officeDocument/2006/relationships/image" Target="../media/image23.jpeg"/><Relationship Id="rId18" Type="http://schemas.openxmlformats.org/officeDocument/2006/relationships/image" Target="../media/image28.jpeg"/><Relationship Id="rId26" Type="http://schemas.openxmlformats.org/officeDocument/2006/relationships/image" Target="../media/image35.jpeg"/><Relationship Id="rId3" Type="http://schemas.openxmlformats.org/officeDocument/2006/relationships/image" Target="../media/image13.jpg"/><Relationship Id="rId21" Type="http://schemas.openxmlformats.org/officeDocument/2006/relationships/image" Target="../media/image30.png"/><Relationship Id="rId7" Type="http://schemas.openxmlformats.org/officeDocument/2006/relationships/image" Target="../media/image17.jpeg"/><Relationship Id="rId12" Type="http://schemas.openxmlformats.org/officeDocument/2006/relationships/image" Target="../media/image22.jpg"/><Relationship Id="rId17" Type="http://schemas.openxmlformats.org/officeDocument/2006/relationships/image" Target="../media/image27.png"/><Relationship Id="rId25" Type="http://schemas.openxmlformats.org/officeDocument/2006/relationships/image" Target="../media/image34.png"/><Relationship Id="rId2" Type="http://schemas.openxmlformats.org/officeDocument/2006/relationships/image" Target="../media/image12.jpg"/><Relationship Id="rId16" Type="http://schemas.openxmlformats.org/officeDocument/2006/relationships/image" Target="../media/image26.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6.jpg"/><Relationship Id="rId11" Type="http://schemas.openxmlformats.org/officeDocument/2006/relationships/image" Target="../media/image21.jpg"/><Relationship Id="rId24" Type="http://schemas.openxmlformats.org/officeDocument/2006/relationships/image" Target="../media/image33.png"/><Relationship Id="rId5" Type="http://schemas.openxmlformats.org/officeDocument/2006/relationships/image" Target="../media/image15.jpg"/><Relationship Id="rId15" Type="http://schemas.openxmlformats.org/officeDocument/2006/relationships/image" Target="../media/image25.png"/><Relationship Id="rId23" Type="http://schemas.openxmlformats.org/officeDocument/2006/relationships/image" Target="../media/image32.png"/><Relationship Id="rId10" Type="http://schemas.openxmlformats.org/officeDocument/2006/relationships/image" Target="../media/image20.jpeg"/><Relationship Id="rId19" Type="http://schemas.openxmlformats.org/officeDocument/2006/relationships/image" Target="../media/image29.png"/><Relationship Id="rId4" Type="http://schemas.openxmlformats.org/officeDocument/2006/relationships/image" Target="../media/image14.jpg"/><Relationship Id="rId9" Type="http://schemas.openxmlformats.org/officeDocument/2006/relationships/image" Target="../media/image19.jpeg"/><Relationship Id="rId14" Type="http://schemas.openxmlformats.org/officeDocument/2006/relationships/image" Target="../media/image24.png"/><Relationship Id="rId22" Type="http://schemas.openxmlformats.org/officeDocument/2006/relationships/image" Target="../media/image31.jpeg"/></Relationships>
</file>

<file path=ppt/slides/_rels/slide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jpe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2"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jpeg"/><Relationship Id="rId5" Type="http://schemas.openxmlformats.org/officeDocument/2006/relationships/image" Target="../media/image39.jpeg"/><Relationship Id="rId10" Type="http://schemas.openxmlformats.org/officeDocument/2006/relationships/image" Target="../media/image44.jpe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png"/></Relationships>
</file>

<file path=ppt/slides/_rels/slide8.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0.jpeg"/></Relationships>
</file>

<file path=ppt/slides/_rels/slide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jpeg"/></Relationships>
</file>

<file path=ppt/slides/_rels/slide11.xml.rels><?xml version="1.0" encoding="UTF-8" standalone="yes"?>
<Relationships xmlns="http://schemas.openxmlformats.org/package/2006/relationships"><Relationship Id="rId3" Type="http://schemas.openxmlformats.org/officeDocument/2006/relationships/hyperlink" Target="https://www.abraham.com/" TargetMode="External"/><Relationship Id="rId2" Type="http://schemas.openxmlformats.org/officeDocument/2006/relationships/hyperlink" Target="https://www.youtube.com/watch?v=9NNKHhapVMM" TargetMode="External"/><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59.jpeg"/><Relationship Id="rId4" Type="http://schemas.openxmlformats.org/officeDocument/2006/relationships/image" Target="../media/image58.jpeg"/></Relationships>
</file>

<file path=ppt/slides/_rels/slide12.xml.rels><?xml version="1.0" encoding="UTF-8" standalone="yes"?>
<Relationships xmlns="http://schemas.openxmlformats.org/package/2006/relationships"><Relationship Id="rId8" Type="http://schemas.openxmlformats.org/officeDocument/2006/relationships/hyperlink" Target="https://www.realecontv.com/videos/in-humor-truth" TargetMode="External"/><Relationship Id="rId13" Type="http://schemas.openxmlformats.org/officeDocument/2006/relationships/image" Target="../media/image64.jpeg"/><Relationship Id="rId3" Type="http://schemas.openxmlformats.org/officeDocument/2006/relationships/hyperlink" Target="https://www.kenmccarthy.com/" TargetMode="External"/><Relationship Id="rId7" Type="http://schemas.openxmlformats.org/officeDocument/2006/relationships/hyperlink" Target="https://www.kenscatalog.com/" TargetMode="External"/><Relationship Id="rId12" Type="http://schemas.openxmlformats.org/officeDocument/2006/relationships/image" Target="../media/image63.jpeg"/><Relationship Id="rId2" Type="http://schemas.openxmlformats.org/officeDocument/2006/relationships/image" Target="../media/image61.jpeg"/><Relationship Id="rId16" Type="http://schemas.openxmlformats.org/officeDocument/2006/relationships/image" Target="../media/image67.jpeg"/><Relationship Id="rId1" Type="http://schemas.openxmlformats.org/officeDocument/2006/relationships/slideLayout" Target="../slideLayouts/slideLayout7.xml"/><Relationship Id="rId6" Type="http://schemas.openxmlformats.org/officeDocument/2006/relationships/hyperlink" Target="https://www.thesystemclub.com/" TargetMode="External"/><Relationship Id="rId11" Type="http://schemas.openxmlformats.org/officeDocument/2006/relationships/image" Target="../media/image62.jpeg"/><Relationship Id="rId5" Type="http://schemas.openxmlformats.org/officeDocument/2006/relationships/hyperlink" Target="https://thesystemblog.com/" TargetMode="External"/><Relationship Id="rId15" Type="http://schemas.openxmlformats.org/officeDocument/2006/relationships/image" Target="../media/image66.jpeg"/><Relationship Id="rId10" Type="http://schemas.openxmlformats.org/officeDocument/2006/relationships/hyperlink" Target="https://www.jazzonthetube.com/" TargetMode="External"/><Relationship Id="rId4" Type="http://schemas.openxmlformats.org/officeDocument/2006/relationships/hyperlink" Target="https://en.wikipedia.org/wiki/Ken_McCarthy" TargetMode="External"/><Relationship Id="rId9" Type="http://schemas.openxmlformats.org/officeDocument/2006/relationships/hyperlink" Target="https://www.20sjazz.com/" TargetMode="External"/><Relationship Id="rId14" Type="http://schemas.openxmlformats.org/officeDocument/2006/relationships/image" Target="../media/image65.jpeg"/></Relationships>
</file>

<file path=ppt/slides/_rels/slide1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 Id="rId4" Type="http://schemas.openxmlformats.org/officeDocument/2006/relationships/image" Target="../media/image7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117969" y="91777"/>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Step1</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Step1</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4832092"/>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but in selling it</a:t>
            </a:r>
            <a:r>
              <a:rPr lang="en-US" sz="1400"/>
              <a:t>.</a:t>
            </a:r>
            <a:br>
              <a:rPr lang="en-US" sz="1400"/>
            </a:br>
            <a:r>
              <a:rPr lang="en-US" sz="1400"/>
              <a:t>Definition of Selling: "</a:t>
            </a:r>
            <a:r>
              <a:rPr lang="en-US" sz="1400">
                <a:solidFill>
                  <a:srgbClr val="00B0F0"/>
                </a:solidFill>
              </a:rPr>
              <a:t>Getting someone intellectually engaged in a future result that is good for them and getting them to emotionally commit action to achieve that result" (Dan Sullivan)</a:t>
            </a:r>
            <a:r>
              <a:rPr lang="en-US" sz="1400"/>
              <a:t>. </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a:t>
            </a:r>
            <a:r>
              <a:rPr lang="en-US" sz="1400" b="1">
                <a:solidFill>
                  <a:srgbClr val="00B050"/>
                </a:solidFill>
              </a:rPr>
              <a:t>HUNGRY CROWD</a:t>
            </a:r>
            <a:r>
              <a:rPr lang="en-US" sz="1400"/>
              <a:t> is what you need the most. </a:t>
            </a:r>
            <a:r>
              <a:rPr lang="en-US" sz="1400" b="1">
                <a:solidFill>
                  <a:srgbClr val="00B050"/>
                </a:solidFill>
              </a:rPr>
              <a:t>Hamburger stand story</a:t>
            </a:r>
            <a:r>
              <a:rPr lang="en-US" sz="1400"/>
              <a:t>. </a:t>
            </a:r>
            <a:br>
              <a:rPr lang="en-US" sz="1400"/>
            </a:br>
            <a:r>
              <a:rPr lang="en-US" sz="1400"/>
              <a:t>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3702206" y="150098"/>
            <a:ext cx="8395388" cy="6555641"/>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b="1">
                <a:solidFill>
                  <a:srgbClr val="00B050"/>
                </a:solidFill>
              </a:rPr>
              <a:t>Unique Selling Proposition</a:t>
            </a:r>
            <a:r>
              <a:rPr lang="en-US" sz="1400"/>
              <a:t>. Examples: FedEx. Domino Pizza.</a:t>
            </a:r>
          </a:p>
          <a:p>
            <a:pPr marL="342900" indent="-342900">
              <a:buFont typeface="+mj-lt"/>
              <a:buAutoNum type="arabicPeriod"/>
            </a:pPr>
            <a:r>
              <a:rPr lang="en-US" sz="1400" b="1">
                <a:solidFill>
                  <a:srgbClr val="00B050"/>
                </a:solidFill>
              </a:rPr>
              <a:t>Lifetime value of a client</a:t>
            </a:r>
            <a:r>
              <a:rPr lang="en-US" sz="1400"/>
              <a:t>. Front End – Back End Marketing. </a:t>
            </a:r>
            <a:r>
              <a:rPr lang="en-US" sz="1400">
                <a:solidFill>
                  <a:srgbClr val="202124"/>
                </a:solidFill>
                <a:latin typeface="Roboto" panose="02000000000000000000" pitchFamily="2" charset="0"/>
              </a:rPr>
              <a:t>C</a:t>
            </a:r>
            <a:r>
              <a:rPr lang="en-US" sz="1400" b="0" i="0">
                <a:solidFill>
                  <a:srgbClr val="202124"/>
                </a:solidFill>
                <a:effectLst/>
                <a:latin typeface="Roboto" panose="02000000000000000000" pitchFamily="2" charset="0"/>
              </a:rPr>
              <a:t>lient acquisition cost. </a:t>
            </a:r>
            <a:r>
              <a:rPr lang="en-US" sz="1400"/>
              <a:t>Example: </a:t>
            </a:r>
            <a:r>
              <a:rPr lang="en-US" sz="1400" b="0" i="0">
                <a:solidFill>
                  <a:srgbClr val="202124"/>
                </a:solidFill>
                <a:effectLst/>
                <a:latin typeface="Roboto" panose="02000000000000000000" pitchFamily="2" charset="0"/>
              </a:rPr>
              <a:t>Icy Hot promotion – spend 115% of the initial selling price to acquire a customer.</a:t>
            </a:r>
            <a:endParaRPr lang="en-US" sz="1400"/>
          </a:p>
          <a:p>
            <a:pPr marL="342900" indent="-342900">
              <a:buFont typeface="+mj-lt"/>
              <a:buAutoNum type="arabicPeriod"/>
            </a:pPr>
            <a:r>
              <a:rPr lang="en-US" sz="1400"/>
              <a:t>Become a </a:t>
            </a:r>
            <a:r>
              <a:rPr lang="en-US" sz="1400" b="1">
                <a:solidFill>
                  <a:srgbClr val="00B050"/>
                </a:solidFill>
              </a:rPr>
              <a:t>match-maker</a:t>
            </a:r>
            <a:r>
              <a:rPr lang="en-US" sz="1400"/>
              <a:t>. </a:t>
            </a:r>
            <a:r>
              <a:rPr lang="en-US" sz="1400">
                <a:hlinkClick r:id="rId2"/>
              </a:rPr>
              <a:t>https://www.youtube.com/watch?v=9NNKHhapVMM</a:t>
            </a:r>
            <a:endParaRPr lang="en-US" sz="1400"/>
          </a:p>
          <a:p>
            <a:pPr marL="342900" indent="-342900">
              <a:buFont typeface="+mj-lt"/>
              <a:buAutoNum type="arabicPeriod"/>
            </a:pPr>
            <a:r>
              <a:rPr lang="en-US" sz="1400"/>
              <a:t>Become the trusted source, the leader in your industry. "</a:t>
            </a:r>
            <a:r>
              <a:rPr lang="en-US" sz="1400" b="1">
                <a:solidFill>
                  <a:srgbClr val="00B050"/>
                </a:solidFill>
              </a:rPr>
              <a:t>Influencer marketing</a:t>
            </a:r>
            <a:r>
              <a:rPr lang="en-US" sz="1400"/>
              <a:t>". Read "Speed of Trust".</a:t>
            </a:r>
          </a:p>
          <a:p>
            <a:pPr marL="342900" indent="-342900">
              <a:buFont typeface="+mj-lt"/>
              <a:buAutoNum type="arabicPeriod"/>
            </a:pPr>
            <a:r>
              <a:rPr lang="en-US" sz="1400"/>
              <a:t>The </a:t>
            </a:r>
            <a:r>
              <a:rPr lang="en-US" sz="1400" b="1">
                <a:solidFill>
                  <a:srgbClr val="00B050"/>
                </a:solidFill>
              </a:rPr>
              <a:t>headline determines 80% of the success</a:t>
            </a:r>
            <a:r>
              <a:rPr lang="en-US" sz="1400"/>
              <a:t> of any advertising campaign. </a:t>
            </a:r>
            <a:br>
              <a:rPr lang="en-US" sz="1400"/>
            </a:br>
            <a:r>
              <a:rPr lang="en-US" sz="1400"/>
              <a:t>Split-test headlines on smaller scale. </a:t>
            </a:r>
            <a:r>
              <a:rPr lang="en-US" sz="1400" b="1">
                <a:solidFill>
                  <a:srgbClr val="00B050"/>
                </a:solidFill>
              </a:rPr>
              <a:t>A/B split testing</a:t>
            </a:r>
            <a:r>
              <a:rPr lang="en-US" sz="1400"/>
              <a:t>.</a:t>
            </a:r>
          </a:p>
          <a:p>
            <a:pPr marL="342900" indent="-342900">
              <a:buFont typeface="+mj-lt"/>
              <a:buAutoNum type="arabicPeriod"/>
            </a:pPr>
            <a:r>
              <a:rPr lang="en-US" sz="1400"/>
              <a:t>Use "</a:t>
            </a:r>
            <a:r>
              <a:rPr lang="en-US" sz="1400" b="1">
                <a:solidFill>
                  <a:srgbClr val="00B050"/>
                </a:solidFill>
              </a:rPr>
              <a:t>word pictures</a:t>
            </a:r>
            <a:r>
              <a:rPr lang="en-US" sz="1400"/>
              <a:t>", use power verbs and active voice. Address your clients directly and be firm and brief.</a:t>
            </a:r>
          </a:p>
          <a:p>
            <a:pPr marL="342900" indent="-342900">
              <a:buFont typeface="+mj-lt"/>
              <a:buAutoNum type="arabicPeriod"/>
            </a:pPr>
            <a:r>
              <a:rPr lang="en-US" sz="1400"/>
              <a:t>Become a </a:t>
            </a:r>
            <a:r>
              <a:rPr lang="en-US" sz="1400" b="1">
                <a:solidFill>
                  <a:srgbClr val="00B050"/>
                </a:solidFill>
              </a:rPr>
              <a:t>performance optimizer</a:t>
            </a:r>
            <a:r>
              <a:rPr lang="en-US" sz="1400"/>
              <a:t>. In every organization, you can find areas that are under-performing. Fix them first. This may cause dramatic improvement in the overall business process.</a:t>
            </a:r>
          </a:p>
          <a:p>
            <a:pPr marL="342900" indent="-342900">
              <a:buFont typeface="+mj-lt"/>
              <a:buAutoNum type="arabicPeriod"/>
            </a:pPr>
            <a:r>
              <a:rPr lang="en-US" sz="1400"/>
              <a:t>Use the </a:t>
            </a:r>
            <a:r>
              <a:rPr lang="en-US" sz="1400" b="1">
                <a:solidFill>
                  <a:srgbClr val="00B050"/>
                </a:solidFill>
              </a:rPr>
              <a:t>Parthenon model</a:t>
            </a:r>
            <a:r>
              <a:rPr lang="en-US" sz="1400"/>
              <a:t>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b="1">
                <a:solidFill>
                  <a:srgbClr val="00B050"/>
                </a:solidFill>
              </a:rPr>
              <a:t>There’s always a space for true entrepreneurs</a:t>
            </a:r>
            <a:r>
              <a:rPr lang="en-US" sz="1400"/>
              <a:t>. Even in saturated markets only ~10% of competitors truly know what they’re doing. The rest 90% is on their way out of the business.</a:t>
            </a:r>
          </a:p>
          <a:p>
            <a:pPr marL="342900" indent="-342900">
              <a:buFont typeface="+mj-lt"/>
              <a:buAutoNum type="arabicPeriod"/>
            </a:pPr>
            <a:r>
              <a:rPr lang="en-US" sz="1400" b="1">
                <a:solidFill>
                  <a:srgbClr val="00B050"/>
                </a:solidFill>
              </a:rPr>
              <a:t>Provide value</a:t>
            </a:r>
            <a:r>
              <a:rPr lang="en-US" sz="1400"/>
              <a:t>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a:t>
            </a:r>
            <a:r>
              <a:rPr lang="en-US" sz="1400" b="1">
                <a:solidFill>
                  <a:srgbClr val="00B050"/>
                </a:solidFill>
              </a:rPr>
              <a:t>Every mistake can be a learning opportunity</a:t>
            </a:r>
            <a:r>
              <a:rPr lang="en-US" sz="1400"/>
              <a:t>.</a:t>
            </a:r>
          </a:p>
          <a:p>
            <a:pPr marL="342900" indent="-342900">
              <a:buFont typeface="+mj-lt"/>
              <a:buAutoNum type="arabicPeriod"/>
            </a:pPr>
            <a:r>
              <a:rPr lang="en-US" sz="1400" b="1">
                <a:solidFill>
                  <a:srgbClr val="00B050"/>
                </a:solidFill>
              </a:rPr>
              <a:t>Fall in love with your clients</a:t>
            </a:r>
            <a:r>
              <a:rPr lang="en-US" sz="1400"/>
              <a:t>,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b="1">
                <a:solidFill>
                  <a:srgbClr val="00B050"/>
                </a:solidFill>
              </a:rPr>
              <a:t>CARING is the key to success</a:t>
            </a:r>
            <a:r>
              <a:rPr lang="en-US" sz="1400"/>
              <a:t>.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b="1">
                <a:solidFill>
                  <a:srgbClr val="00B050"/>
                </a:solidFill>
              </a:rPr>
              <a:t>Use web/Amazon for market research</a:t>
            </a:r>
            <a:r>
              <a:rPr lang="en-US" sz="1400"/>
              <a:t>. For example,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3"/>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25900" y="905705"/>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94407" y="3034906"/>
            <a:ext cx="2251588" cy="954107"/>
          </a:xfrm>
          <a:prstGeom prst="rect">
            <a:avLst/>
          </a:prstGeom>
          <a:noFill/>
        </p:spPr>
        <p:txBody>
          <a:bodyPr wrap="square" rtlCol="0">
            <a:spAutoFit/>
          </a:bodyPr>
          <a:lstStyle/>
          <a:p>
            <a:r>
              <a:rPr lang="en-US" sz="1400"/>
              <a:t>The 21.7 Billion Dollar Man</a:t>
            </a:r>
          </a:p>
          <a:p>
            <a:r>
              <a:rPr lang="en-US" sz="1400"/>
              <a:t>One of The Most Effective </a:t>
            </a:r>
          </a:p>
          <a:p>
            <a:r>
              <a:rPr lang="en-US" sz="1400"/>
              <a:t>Strategic Marketing &amp; </a:t>
            </a:r>
          </a:p>
          <a:p>
            <a:r>
              <a:rPr lang="en-US" sz="1400"/>
              <a:t>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274362" y="5073804"/>
            <a:ext cx="1049883" cy="15569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82138" y="5073805"/>
            <a:ext cx="1013840" cy="1556969"/>
          </a:xfrm>
          <a:prstGeom prst="rect">
            <a:avLst/>
          </a:prstGeom>
        </p:spPr>
      </p:pic>
    </p:spTree>
    <p:extLst>
      <p:ext uri="{BB962C8B-B14F-4D97-AF65-F5344CB8AC3E}">
        <p14:creationId xmlns:p14="http://schemas.microsoft.com/office/powerpoint/2010/main" val="3108894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C5136C-10BA-4B41-BFCF-2DE090D80C95}"/>
              </a:ext>
            </a:extLst>
          </p:cNvPr>
          <p:cNvSpPr txBox="1"/>
          <p:nvPr/>
        </p:nvSpPr>
        <p:spPr>
          <a:xfrm>
            <a:off x="0" y="0"/>
            <a:ext cx="2500829" cy="523220"/>
          </a:xfrm>
          <a:prstGeom prst="rect">
            <a:avLst/>
          </a:prstGeom>
          <a:noFill/>
        </p:spPr>
        <p:txBody>
          <a:bodyPr wrap="square" rtlCol="0">
            <a:spAutoFit/>
          </a:bodyPr>
          <a:lstStyle/>
          <a:p>
            <a:r>
              <a:rPr lang="en-US" sz="2800" b="1"/>
              <a:t>Ken McCarthy</a:t>
            </a:r>
          </a:p>
        </p:txBody>
      </p:sp>
      <p:sp>
        <p:nvSpPr>
          <p:cNvPr id="3" name="TextBox 2">
            <a:extLst>
              <a:ext uri="{FF2B5EF4-FFF2-40B4-BE49-F238E27FC236}">
                <a16:creationId xmlns:a16="http://schemas.microsoft.com/office/drawing/2014/main" id="{C2DCDBC0-6AA0-BFBE-C6C6-817A0C57CC10}"/>
              </a:ext>
            </a:extLst>
          </p:cNvPr>
          <p:cNvSpPr txBox="1"/>
          <p:nvPr/>
        </p:nvSpPr>
        <p:spPr>
          <a:xfrm>
            <a:off x="125620" y="2368084"/>
            <a:ext cx="2375209" cy="738664"/>
          </a:xfrm>
          <a:prstGeom prst="rect">
            <a:avLst/>
          </a:prstGeom>
          <a:noFill/>
        </p:spPr>
        <p:txBody>
          <a:bodyPr wrap="square" rtlCol="0">
            <a:spAutoFit/>
          </a:bodyPr>
          <a:lstStyle/>
          <a:p>
            <a:r>
              <a:rPr lang="en-US" sz="1400"/>
              <a:t>American activist, educator, entrepreneur, and Internet commercialization pioneer.</a:t>
            </a:r>
          </a:p>
        </p:txBody>
      </p:sp>
      <p:pic>
        <p:nvPicPr>
          <p:cNvPr id="1026" name="Picture 2">
            <a:extLst>
              <a:ext uri="{FF2B5EF4-FFF2-40B4-BE49-F238E27FC236}">
                <a16:creationId xmlns:a16="http://schemas.microsoft.com/office/drawing/2014/main" id="{FCE2743D-9B83-54D7-0F20-4831FE611DD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292888" y="651902"/>
            <a:ext cx="1587500" cy="158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3675D2D-8FD0-CF9C-1FD2-C3FEE0E5A933}"/>
              </a:ext>
            </a:extLst>
          </p:cNvPr>
          <p:cNvSpPr txBox="1"/>
          <p:nvPr/>
        </p:nvSpPr>
        <p:spPr>
          <a:xfrm>
            <a:off x="292887" y="3106748"/>
            <a:ext cx="3922273" cy="1615827"/>
          </a:xfrm>
          <a:prstGeom prst="rect">
            <a:avLst/>
          </a:prstGeom>
          <a:noFill/>
        </p:spPr>
        <p:txBody>
          <a:bodyPr wrap="square" rtlCol="0">
            <a:spAutoFit/>
          </a:bodyPr>
          <a:lstStyle/>
          <a:p>
            <a:r>
              <a:rPr lang="en-US" sz="1100"/>
              <a:t>.. </a:t>
            </a:r>
            <a:r>
              <a:rPr lang="en-US" sz="1100">
                <a:hlinkClick r:id="rId3"/>
              </a:rPr>
              <a:t>https://www.kenmccarthy.com</a:t>
            </a:r>
            <a:endParaRPr lang="en-US" sz="1100"/>
          </a:p>
          <a:p>
            <a:r>
              <a:rPr lang="en-US" sz="1100"/>
              <a:t>.. </a:t>
            </a:r>
            <a:r>
              <a:rPr lang="en-US" sz="1100">
                <a:hlinkClick r:id="rId4"/>
              </a:rPr>
              <a:t>https://en.wikipedia.org/wiki/Ken_McCarthy</a:t>
            </a:r>
            <a:endParaRPr lang="en-US" sz="1100"/>
          </a:p>
          <a:p>
            <a:r>
              <a:rPr lang="en-US" sz="1100"/>
              <a:t>.. </a:t>
            </a:r>
            <a:r>
              <a:rPr lang="en-US" sz="1100">
                <a:hlinkClick r:id="rId5"/>
              </a:rPr>
              <a:t>https://thesystemblog.com</a:t>
            </a:r>
            <a:endParaRPr lang="en-US" sz="1100"/>
          </a:p>
          <a:p>
            <a:r>
              <a:rPr lang="en-US" sz="1100"/>
              <a:t>.. </a:t>
            </a:r>
            <a:r>
              <a:rPr lang="en-US" sz="1100">
                <a:hlinkClick r:id="rId6"/>
              </a:rPr>
              <a:t>https://www.thesystemclub.com</a:t>
            </a:r>
            <a:endParaRPr lang="en-US" sz="1100"/>
          </a:p>
          <a:p>
            <a:r>
              <a:rPr lang="en-US" sz="1100"/>
              <a:t>.. </a:t>
            </a:r>
            <a:r>
              <a:rPr lang="en-US" sz="1100">
                <a:hlinkClick r:id="rId7"/>
              </a:rPr>
              <a:t>https://www.kenscatalog.com</a:t>
            </a:r>
            <a:endParaRPr lang="en-US" sz="1100"/>
          </a:p>
          <a:p>
            <a:r>
              <a:rPr lang="en-US" sz="1100"/>
              <a:t>.. </a:t>
            </a:r>
            <a:r>
              <a:rPr lang="en-US" sz="1100">
                <a:hlinkClick r:id="rId8"/>
              </a:rPr>
              <a:t>https://www.realecontv.com/videos/in-humor-truth</a:t>
            </a:r>
            <a:endParaRPr lang="en-US" sz="1100"/>
          </a:p>
          <a:p>
            <a:r>
              <a:rPr lang="en-US" sz="1100"/>
              <a:t>.. </a:t>
            </a:r>
            <a:r>
              <a:rPr lang="en-US" sz="1100">
                <a:hlinkClick r:id="rId9"/>
              </a:rPr>
              <a:t>https://www.20sjazz.com</a:t>
            </a:r>
            <a:endParaRPr lang="en-US" sz="1100"/>
          </a:p>
          <a:p>
            <a:r>
              <a:rPr lang="en-US" sz="1100"/>
              <a:t>.. </a:t>
            </a:r>
            <a:r>
              <a:rPr lang="en-US" sz="1100">
                <a:hlinkClick r:id="rId10"/>
              </a:rPr>
              <a:t>https://www.jazzonthetube.com</a:t>
            </a:r>
            <a:endParaRPr lang="en-US" sz="1100"/>
          </a:p>
          <a:p>
            <a:r>
              <a:rPr lang="en-US" sz="1100"/>
              <a:t>.. etc. etc.</a:t>
            </a:r>
          </a:p>
        </p:txBody>
      </p:sp>
      <p:pic>
        <p:nvPicPr>
          <p:cNvPr id="1028" name="Picture 4" descr="The Nuremberg Code: 75th Anniversary Commemorative Edition (Multi-Language Edition) Kindle Edition">
            <a:extLst>
              <a:ext uri="{FF2B5EF4-FFF2-40B4-BE49-F238E27FC236}">
                <a16:creationId xmlns:a16="http://schemas.microsoft.com/office/drawing/2014/main" id="{D4759DA6-291F-28E9-6038-4953EC6F0918}"/>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750651" y="5391612"/>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raveling the CoVid Con: The 2020-2022 Blog Posts of Ken McCarthy - How One Marketer Exposed The Truth When It Mattered Kindle Edition">
            <a:extLst>
              <a:ext uri="{FF2B5EF4-FFF2-40B4-BE49-F238E27FC236}">
                <a16:creationId xmlns:a16="http://schemas.microsoft.com/office/drawing/2014/main" id="{46E45389-CA8F-5BAF-1173-748ED16A9AFE}"/>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872182" y="5391612"/>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ystem Secrets - Maximum Money in Minimum Time Online Kindle Edition">
            <a:extLst>
              <a:ext uri="{FF2B5EF4-FFF2-40B4-BE49-F238E27FC236}">
                <a16:creationId xmlns:a16="http://schemas.microsoft.com/office/drawing/2014/main" id="{8E61EE0D-8B9D-F630-614C-4AEFB029FEBE}"/>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70638" y="5391614"/>
            <a:ext cx="878468" cy="131770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The System Club Letters - 57 Big Ideas to Transform Your Business and Your Life Kindle Edition">
            <a:extLst>
              <a:ext uri="{FF2B5EF4-FFF2-40B4-BE49-F238E27FC236}">
                <a16:creationId xmlns:a16="http://schemas.microsoft.com/office/drawing/2014/main" id="{B02F88B6-E42E-D898-0BA6-C9C608F22FDB}"/>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993712" y="5391612"/>
            <a:ext cx="878470"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Financial Independence Day Blueprint Kindle Edition">
            <a:extLst>
              <a:ext uri="{FF2B5EF4-FFF2-40B4-BE49-F238E27FC236}">
                <a16:creationId xmlns:a16="http://schemas.microsoft.com/office/drawing/2014/main" id="{7A090784-4905-E903-04AE-EE91E3036E98}"/>
              </a:ext>
            </a:extLst>
          </p:cNvPr>
          <p:cNvPicPr>
            <a:picLocks noChangeAspect="1" noChangeArrowheads="1"/>
          </p:cNvPicPr>
          <p:nvPr/>
        </p:nvPicPr>
        <p:blipFill>
          <a:blip r:embed="rId15" cstate="email">
            <a:extLst>
              <a:ext uri="{28A0092B-C50C-407E-A947-70E740481C1C}">
                <a14:useLocalDpi xmlns:a14="http://schemas.microsoft.com/office/drawing/2010/main"/>
              </a:ext>
            </a:extLst>
          </a:blip>
          <a:srcRect/>
          <a:stretch>
            <a:fillRect/>
          </a:stretch>
        </p:blipFill>
        <p:spPr bwMode="auto">
          <a:xfrm>
            <a:off x="3629119" y="5391610"/>
            <a:ext cx="878469" cy="131770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EEFD10C3-4083-19FD-F88C-7F0732FD07E3}"/>
              </a:ext>
            </a:extLst>
          </p:cNvPr>
          <p:cNvPicPr>
            <a:picLocks noChangeAspect="1" noChangeArrowheads="1"/>
          </p:cNvPicPr>
          <p:nvPr/>
        </p:nvPicPr>
        <p:blipFill>
          <a:blip r:embed="rId16">
            <a:extLst>
              <a:ext uri="{28A0092B-C50C-407E-A947-70E740481C1C}">
                <a14:useLocalDpi xmlns:a14="http://schemas.microsoft.com/office/drawing/2010/main"/>
              </a:ext>
            </a:extLst>
          </a:blip>
          <a:srcRect/>
          <a:stretch>
            <a:fillRect/>
          </a:stretch>
        </p:blipFill>
        <p:spPr bwMode="auto">
          <a:xfrm>
            <a:off x="4559629" y="5341484"/>
            <a:ext cx="1489537" cy="147732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B2BE3F-C137-EF49-2335-0846FD05F1F1}"/>
              </a:ext>
            </a:extLst>
          </p:cNvPr>
          <p:cNvSpPr txBox="1"/>
          <p:nvPr/>
        </p:nvSpPr>
        <p:spPr>
          <a:xfrm>
            <a:off x="4438946" y="793568"/>
            <a:ext cx="7627434" cy="3754874"/>
          </a:xfrm>
          <a:prstGeom prst="rect">
            <a:avLst/>
          </a:prstGeom>
          <a:solidFill>
            <a:schemeClr val="accent4">
              <a:lumMod val="20000"/>
              <a:lumOff val="80000"/>
            </a:schemeClr>
          </a:solidFill>
          <a:ln>
            <a:solidFill>
              <a:srgbClr val="FF0000"/>
            </a:solidFill>
          </a:ln>
        </p:spPr>
        <p:txBody>
          <a:bodyPr wrap="square" rtlCol="0">
            <a:spAutoFit/>
          </a:bodyPr>
          <a:lstStyle/>
          <a:p>
            <a:pPr marL="171450" indent="-171450">
              <a:buFont typeface="Arial" panose="020B0604020202020204" pitchFamily="34" charset="0"/>
              <a:buChar char="•"/>
            </a:pPr>
            <a:r>
              <a:rPr lang="en-US" sz="1400"/>
              <a:t>McCarthy is best known for his pioneering work in the movement to commercialize the Internet in 1990s – email advertising, banner ads, pay-per-click advertising, Internet video, click-through rates as the key metric</a:t>
            </a:r>
          </a:p>
          <a:p>
            <a:pPr marL="171450" indent="-171450">
              <a:buFont typeface="Arial" panose="020B0604020202020204" pitchFamily="34" charset="0"/>
              <a:buChar char="•"/>
            </a:pPr>
            <a:r>
              <a:rPr lang="en-US" sz="1400"/>
              <a:t>In 1994, he organized and sponsored the first conference ever held on potential commercial applications of the World Wide Web. McCarthy described in detail the new content marketing and distribution model (The Long Tail)</a:t>
            </a:r>
          </a:p>
          <a:p>
            <a:pPr marL="171450" indent="-171450">
              <a:buFont typeface="Arial" panose="020B0604020202020204" pitchFamily="34" charset="0"/>
              <a:buChar char="•"/>
            </a:pPr>
            <a:r>
              <a:rPr lang="en-US" sz="1400"/>
              <a:t>In 1995, McCarthy organized and sponsored a conference on the topic of using the web as a local publishing medium to assist community building. Many projects resulted from that (New York, New Orleans, etc.)</a:t>
            </a:r>
          </a:p>
          <a:p>
            <a:pPr marL="171450" indent="-171450">
              <a:buFont typeface="Arial" panose="020B0604020202020204" pitchFamily="34" charset="0"/>
              <a:buChar char="•"/>
            </a:pPr>
            <a:r>
              <a:rPr lang="en-US" sz="1400"/>
              <a:t>System Seminar (2000 – 2010), The System</a:t>
            </a:r>
          </a:p>
          <a:p>
            <a:pPr marL="171450" indent="-171450">
              <a:buFont typeface="Arial" panose="020B0604020202020204" pitchFamily="34" charset="0"/>
              <a:buChar char="•"/>
            </a:pPr>
            <a:r>
              <a:rPr lang="en-US" sz="1400"/>
              <a:t>Internet video publishing, The System Video Blog</a:t>
            </a:r>
          </a:p>
          <a:p>
            <a:pPr marL="171450" indent="-171450">
              <a:buFont typeface="Arial" panose="020B0604020202020204" pitchFamily="34" charset="0"/>
              <a:buChar char="•"/>
            </a:pPr>
            <a:r>
              <a:rPr lang="en-US" sz="1400"/>
              <a:t>Music industry, digital production, </a:t>
            </a:r>
            <a:r>
              <a:rPr lang="en-US" sz="1400">
                <a:hlinkClick r:id="rId10"/>
              </a:rPr>
              <a:t>https://www.jazzonthetube.com</a:t>
            </a:r>
            <a:endParaRPr lang="en-US" sz="1400"/>
          </a:p>
          <a:p>
            <a:pPr marL="171450" indent="-171450">
              <a:buFont typeface="Arial" panose="020B0604020202020204" pitchFamily="34" charset="0"/>
              <a:buChar char="•"/>
            </a:pPr>
            <a:r>
              <a:rPr lang="en-US" sz="1400"/>
              <a:t>Communications consultant to Bankers Trust and First Boston</a:t>
            </a:r>
          </a:p>
          <a:p>
            <a:pPr marL="171450" indent="-171450">
              <a:buFont typeface="Arial" panose="020B0604020202020204" pitchFamily="34" charset="0"/>
              <a:buChar char="•"/>
            </a:pPr>
            <a:r>
              <a:rPr lang="en-US" sz="1400"/>
              <a:t>Published a large number of articles, several books</a:t>
            </a:r>
          </a:p>
          <a:p>
            <a:pPr marL="171450" indent="-171450">
              <a:buFont typeface="Arial" panose="020B0604020202020204" pitchFamily="34" charset="0"/>
              <a:buChar char="•"/>
            </a:pPr>
            <a:r>
              <a:rPr lang="en-US" sz="1400"/>
              <a:t>In 1999, McCarthy collaborated with filmmaker Rick Goldsmith to create an online archive[27] of the work of American investigative journalist George Seldes (1890–1995) in support of Goldsmith's Academy Award-nominated film Tell the Truth and Run: George Seldes and the American Press.</a:t>
            </a:r>
          </a:p>
        </p:txBody>
      </p:sp>
      <p:sp>
        <p:nvSpPr>
          <p:cNvPr id="6" name="TextBox 5">
            <a:extLst>
              <a:ext uri="{FF2B5EF4-FFF2-40B4-BE49-F238E27FC236}">
                <a16:creationId xmlns:a16="http://schemas.microsoft.com/office/drawing/2014/main" id="{97E18216-141F-25FF-ACEC-7D03EF63ACE6}"/>
              </a:ext>
            </a:extLst>
          </p:cNvPr>
          <p:cNvSpPr txBox="1"/>
          <p:nvPr/>
        </p:nvSpPr>
        <p:spPr>
          <a:xfrm>
            <a:off x="4438946" y="261610"/>
            <a:ext cx="4705054" cy="523220"/>
          </a:xfrm>
          <a:prstGeom prst="rect">
            <a:avLst/>
          </a:prstGeom>
          <a:noFill/>
        </p:spPr>
        <p:txBody>
          <a:bodyPr wrap="square" rtlCol="0">
            <a:spAutoFit/>
          </a:bodyPr>
          <a:lstStyle/>
          <a:p>
            <a:r>
              <a:rPr lang="en-US" sz="1400"/>
              <a:t>"When people go to a web page, the thing that they want more than anything else is instant clarity."  - Ken McCarthy</a:t>
            </a:r>
          </a:p>
        </p:txBody>
      </p:sp>
      <p:sp>
        <p:nvSpPr>
          <p:cNvPr id="7" name="TextBox 6">
            <a:extLst>
              <a:ext uri="{FF2B5EF4-FFF2-40B4-BE49-F238E27FC236}">
                <a16:creationId xmlns:a16="http://schemas.microsoft.com/office/drawing/2014/main" id="{477010D0-6379-2E36-0086-95011CBACA96}"/>
              </a:ext>
            </a:extLst>
          </p:cNvPr>
          <p:cNvSpPr txBox="1"/>
          <p:nvPr/>
        </p:nvSpPr>
        <p:spPr>
          <a:xfrm>
            <a:off x="6142836" y="4890266"/>
            <a:ext cx="5923543" cy="1815882"/>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"Write BULLETS that wound, with the only remedy coming from buying the product." - Ken McCarthy</a:t>
            </a:r>
          </a:p>
          <a:p>
            <a:endParaRPr lang="en-US" sz="1400"/>
          </a:p>
          <a:p>
            <a:r>
              <a:rPr lang="en-US" sz="1400"/>
              <a:t>What the bullet bottom line?</a:t>
            </a:r>
          </a:p>
          <a:p>
            <a:r>
              <a:rPr lang="en-US" sz="1400"/>
              <a:t>.. Convert features to benefits to feeling</a:t>
            </a:r>
          </a:p>
          <a:p>
            <a:r>
              <a:rPr lang="en-US" sz="1400"/>
              <a:t>.. Bring facts to life</a:t>
            </a:r>
          </a:p>
          <a:p>
            <a:r>
              <a:rPr lang="en-US" sz="1400"/>
              <a:t>.. TRANSLATE</a:t>
            </a:r>
          </a:p>
          <a:p>
            <a:r>
              <a:rPr lang="en-US" sz="1400"/>
              <a:t>Customers don’t have time or energy to process your message…that’s your job</a:t>
            </a:r>
          </a:p>
        </p:txBody>
      </p:sp>
    </p:spTree>
    <p:extLst>
      <p:ext uri="{BB962C8B-B14F-4D97-AF65-F5344CB8AC3E}">
        <p14:creationId xmlns:p14="http://schemas.microsoft.com/office/powerpoint/2010/main" val="36073569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3B9DC60-5A1D-4E4C-5992-53A419130EBB}"/>
              </a:ext>
            </a:extLst>
          </p:cNvPr>
          <p:cNvSpPr txBox="1"/>
          <p:nvPr/>
        </p:nvSpPr>
        <p:spPr>
          <a:xfrm>
            <a:off x="1" y="0"/>
            <a:ext cx="9095014" cy="523220"/>
          </a:xfrm>
          <a:prstGeom prst="rect">
            <a:avLst/>
          </a:prstGeom>
          <a:noFill/>
        </p:spPr>
        <p:txBody>
          <a:bodyPr wrap="square" rtlCol="0">
            <a:spAutoFit/>
          </a:bodyPr>
          <a:lstStyle/>
          <a:p>
            <a:r>
              <a:rPr lang="en-US" sz="2800" b="1"/>
              <a:t>Ken McCarthy's Short List of top DM and copywriting books</a:t>
            </a:r>
          </a:p>
        </p:txBody>
      </p:sp>
      <p:sp>
        <p:nvSpPr>
          <p:cNvPr id="3" name="TextBox 2">
            <a:extLst>
              <a:ext uri="{FF2B5EF4-FFF2-40B4-BE49-F238E27FC236}">
                <a16:creationId xmlns:a16="http://schemas.microsoft.com/office/drawing/2014/main" id="{6024C392-B62B-6A61-E9D4-EEDD2FE02EC5}"/>
              </a:ext>
            </a:extLst>
          </p:cNvPr>
          <p:cNvSpPr txBox="1"/>
          <p:nvPr/>
        </p:nvSpPr>
        <p:spPr>
          <a:xfrm>
            <a:off x="1959429" y="1460499"/>
            <a:ext cx="5519057" cy="461664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1. My Life in Advertising - Claude Hopkins</a:t>
            </a:r>
          </a:p>
          <a:p>
            <a:r>
              <a:rPr lang="en-US" sz="1400"/>
              <a:t>2. The Robert Collier Letter Book - Robert Collier</a:t>
            </a:r>
          </a:p>
          <a:p>
            <a:r>
              <a:rPr lang="en-US" sz="1400"/>
              <a:t>3. Tested Advertising Methods - John Caples</a:t>
            </a:r>
          </a:p>
          <a:p>
            <a:r>
              <a:rPr lang="en-US" sz="1400"/>
              <a:t>4. How to Write a Good Advertisement - Victor Schwab</a:t>
            </a:r>
          </a:p>
          <a:p>
            <a:r>
              <a:rPr lang="en-US" sz="1400"/>
              <a:t>5. Scientific Advertising - Claude Hopkins</a:t>
            </a:r>
          </a:p>
          <a:p>
            <a:r>
              <a:rPr lang="en-US" sz="1400"/>
              <a:t>6. My First Sixty Years in Advertising - Max Sackeheim</a:t>
            </a:r>
          </a:p>
          <a:p>
            <a:r>
              <a:rPr lang="en-US" sz="1400"/>
              <a:t>7. Breakthrough Advertising - Eugene Schwartz</a:t>
            </a:r>
          </a:p>
          <a:p>
            <a:r>
              <a:rPr lang="en-US" sz="1400"/>
              <a:t>8. Secrets of Successful Direct Mail - Richard Benson</a:t>
            </a:r>
          </a:p>
          <a:p>
            <a:r>
              <a:rPr lang="en-US" sz="1400"/>
              <a:t>9. Mail Order Know-How - Cecil Hoge, Sr.</a:t>
            </a:r>
          </a:p>
          <a:p>
            <a:r>
              <a:rPr lang="en-US" sz="1400"/>
              <a:t>10. Mail Order Moonlighting - Cecil Hoge, Sr.</a:t>
            </a:r>
          </a:p>
          <a:p>
            <a:r>
              <a:rPr lang="en-US" sz="1400"/>
              <a:t>11. Million Dollar Mailings - Denny Hatch</a:t>
            </a:r>
          </a:p>
          <a:p>
            <a:r>
              <a:rPr lang="en-US" sz="1400"/>
              <a:t>12. Method Marketing - Denny Hatch</a:t>
            </a:r>
          </a:p>
          <a:p>
            <a:r>
              <a:rPr lang="en-US" sz="1400"/>
              <a:t>13. 2,239 Tested Secrets for Direct Marketing Success - Denny Hatch</a:t>
            </a:r>
          </a:p>
          <a:p>
            <a:r>
              <a:rPr lang="en-US" sz="1400"/>
              <a:t>14. Being Direct - Lester Wunderman</a:t>
            </a:r>
          </a:p>
          <a:p>
            <a:r>
              <a:rPr lang="en-US" sz="1400"/>
              <a:t>15. The Solid Gold Mailbox - Walter Weintz</a:t>
            </a:r>
          </a:p>
          <a:p>
            <a:r>
              <a:rPr lang="en-US" sz="1400"/>
              <a:t>16. Handbook of Direct Mail - Siegfried Vogele</a:t>
            </a:r>
          </a:p>
          <a:p>
            <a:r>
              <a:rPr lang="en-US" sz="1400"/>
              <a:t>17. Jump Start Your Business Brain - Doug Hall</a:t>
            </a:r>
          </a:p>
          <a:p>
            <a:r>
              <a:rPr lang="en-US" sz="1400"/>
              <a:t>18. Meaningful Marketing - Doug Hall</a:t>
            </a:r>
          </a:p>
          <a:p>
            <a:r>
              <a:rPr lang="en-US" sz="1400"/>
              <a:t>19. Jump Start Your Marketing Brain - Doug Hall</a:t>
            </a:r>
          </a:p>
          <a:p>
            <a:r>
              <a:rPr lang="en-US" sz="1400"/>
              <a:t>20. Which Ad Pulled Best - Philip Burton</a:t>
            </a:r>
          </a:p>
          <a:p>
            <a:r>
              <a:rPr lang="en-US" sz="1400"/>
              <a:t>21. Confessions of an Advertising Man - David Ogilvy</a:t>
            </a:r>
          </a:p>
        </p:txBody>
      </p:sp>
      <p:pic>
        <p:nvPicPr>
          <p:cNvPr id="4" name="Picture 3">
            <a:extLst>
              <a:ext uri="{FF2B5EF4-FFF2-40B4-BE49-F238E27FC236}">
                <a16:creationId xmlns:a16="http://schemas.microsoft.com/office/drawing/2014/main" id="{1A02436C-E504-78E3-7173-18E135B8D2B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98450" y="783771"/>
            <a:ext cx="1308100" cy="1320800"/>
          </a:xfrm>
          <a:prstGeom prst="rect">
            <a:avLst/>
          </a:prstGeom>
        </p:spPr>
      </p:pic>
    </p:spTree>
    <p:extLst>
      <p:ext uri="{BB962C8B-B14F-4D97-AF65-F5344CB8AC3E}">
        <p14:creationId xmlns:p14="http://schemas.microsoft.com/office/powerpoint/2010/main" val="101686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D71B51-733F-46F0-8B80-BD88ABB148C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09702" y="378132"/>
            <a:ext cx="4216968" cy="4729843"/>
          </a:xfrm>
          <a:prstGeom prst="rect">
            <a:avLst/>
          </a:prstGeom>
        </p:spPr>
      </p:pic>
      <p:pic>
        <p:nvPicPr>
          <p:cNvPr id="3" name="Picture 2">
            <a:extLst>
              <a:ext uri="{FF2B5EF4-FFF2-40B4-BE49-F238E27FC236}">
                <a16:creationId xmlns:a16="http://schemas.microsoft.com/office/drawing/2014/main" id="{0785CE93-441B-8E1D-BDAF-8722E5FC5EF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96859" y="378131"/>
            <a:ext cx="4216969" cy="4729844"/>
          </a:xfrm>
          <a:prstGeom prst="rect">
            <a:avLst/>
          </a:prstGeom>
        </p:spPr>
      </p:pic>
      <p:pic>
        <p:nvPicPr>
          <p:cNvPr id="1026" name="Picture 2">
            <a:extLst>
              <a:ext uri="{FF2B5EF4-FFF2-40B4-BE49-F238E27FC236}">
                <a16:creationId xmlns:a16="http://schemas.microsoft.com/office/drawing/2014/main" id="{9FC98F6F-EF0C-1EF5-FC36-ADCD78851DFD}"/>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301914" y="794656"/>
            <a:ext cx="2198915" cy="21989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8B9B672-6955-DD5A-A415-87ABF4AF4136}"/>
              </a:ext>
            </a:extLst>
          </p:cNvPr>
          <p:cNvSpPr txBox="1"/>
          <p:nvPr/>
        </p:nvSpPr>
        <p:spPr>
          <a:xfrm>
            <a:off x="0" y="0"/>
            <a:ext cx="2500829" cy="523220"/>
          </a:xfrm>
          <a:prstGeom prst="rect">
            <a:avLst/>
          </a:prstGeom>
          <a:noFill/>
        </p:spPr>
        <p:txBody>
          <a:bodyPr wrap="square" rtlCol="0">
            <a:spAutoFit/>
          </a:bodyPr>
          <a:lstStyle/>
          <a:p>
            <a:r>
              <a:rPr lang="en-US" sz="2800" b="1"/>
              <a:t>Dan S. Kennedy</a:t>
            </a:r>
          </a:p>
        </p:txBody>
      </p:sp>
      <p:sp>
        <p:nvSpPr>
          <p:cNvPr id="5" name="TextBox 4">
            <a:extLst>
              <a:ext uri="{FF2B5EF4-FFF2-40B4-BE49-F238E27FC236}">
                <a16:creationId xmlns:a16="http://schemas.microsoft.com/office/drawing/2014/main" id="{5D5398A0-ED18-905E-186A-19FC002F4247}"/>
              </a:ext>
            </a:extLst>
          </p:cNvPr>
          <p:cNvSpPr txBox="1"/>
          <p:nvPr/>
        </p:nvSpPr>
        <p:spPr>
          <a:xfrm>
            <a:off x="178172" y="3089485"/>
            <a:ext cx="2695657" cy="3323987"/>
          </a:xfrm>
          <a:prstGeom prst="rect">
            <a:avLst/>
          </a:prstGeom>
          <a:noFill/>
        </p:spPr>
        <p:txBody>
          <a:bodyPr wrap="square" rtlCol="0">
            <a:spAutoFit/>
          </a:bodyPr>
          <a:lstStyle/>
          <a:p>
            <a:r>
              <a:rPr lang="en-US" sz="1400"/>
              <a:t>Author, Strategic Advisor, Consultant, and Business Coach</a:t>
            </a:r>
          </a:p>
          <a:p>
            <a:endParaRPr lang="en-US" sz="1400"/>
          </a:p>
          <a:p>
            <a:r>
              <a:rPr lang="en-US" sz="1400"/>
              <a:t>DAN S. KENNEDY is a strategic advisor, consultant, business coach, and author of the popular No B.S. book series. He directly influences more than one million business owners annually.</a:t>
            </a:r>
          </a:p>
          <a:p>
            <a:endParaRPr lang="en-US" sz="1400"/>
          </a:p>
          <a:p>
            <a:endParaRPr lang="en-US" sz="1400"/>
          </a:p>
          <a:p>
            <a:r>
              <a:rPr lang="en-US" sz="1400"/>
              <a:t>Copywriter</a:t>
            </a:r>
          </a:p>
          <a:p>
            <a:r>
              <a:rPr lang="en-US" sz="1400"/>
              <a:t>Magnetic Marketing</a:t>
            </a:r>
          </a:p>
          <a:p>
            <a:r>
              <a:rPr lang="en-US" sz="1400"/>
              <a:t>Super Conference </a:t>
            </a:r>
          </a:p>
          <a:p>
            <a:r>
              <a:rPr lang="en-US" sz="1400"/>
              <a:t>Inner Circle (Glazer-Kennedy)</a:t>
            </a:r>
          </a:p>
        </p:txBody>
      </p:sp>
    </p:spTree>
    <p:extLst>
      <p:ext uri="{BB962C8B-B14F-4D97-AF65-F5344CB8AC3E}">
        <p14:creationId xmlns:p14="http://schemas.microsoft.com/office/powerpoint/2010/main" val="29322826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B9B352-5365-9CD5-05DB-8AF238BE2B2D}"/>
              </a:ext>
            </a:extLst>
          </p:cNvPr>
          <p:cNvSpPr txBox="1"/>
          <p:nvPr/>
        </p:nvSpPr>
        <p:spPr>
          <a:xfrm>
            <a:off x="1" y="0"/>
            <a:ext cx="3918856" cy="523220"/>
          </a:xfrm>
          <a:prstGeom prst="rect">
            <a:avLst/>
          </a:prstGeom>
          <a:noFill/>
        </p:spPr>
        <p:txBody>
          <a:bodyPr wrap="square" rtlCol="0">
            <a:spAutoFit/>
          </a:bodyPr>
          <a:lstStyle/>
          <a:p>
            <a:r>
              <a:rPr lang="en-US" sz="2800" b="1"/>
              <a:t>More Marketing Topics</a:t>
            </a:r>
          </a:p>
        </p:txBody>
      </p:sp>
      <p:sp>
        <p:nvSpPr>
          <p:cNvPr id="3" name="TextBox 2">
            <a:extLst>
              <a:ext uri="{FF2B5EF4-FFF2-40B4-BE49-F238E27FC236}">
                <a16:creationId xmlns:a16="http://schemas.microsoft.com/office/drawing/2014/main" id="{3E853A59-860B-E7DD-2756-C6E5C9ECE9D3}"/>
              </a:ext>
            </a:extLst>
          </p:cNvPr>
          <p:cNvSpPr txBox="1"/>
          <p:nvPr/>
        </p:nvSpPr>
        <p:spPr>
          <a:xfrm>
            <a:off x="523908" y="1495493"/>
            <a:ext cx="1953074" cy="3323987"/>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ask_campaign</a:t>
            </a:r>
          </a:p>
          <a:p>
            <a:pPr marL="285750" indent="-285750">
              <a:buFont typeface="Arial" panose="020B0604020202020204" pitchFamily="34" charset="0"/>
              <a:buChar char="•"/>
            </a:pPr>
            <a:r>
              <a:rPr lang="en-US" sz="1400"/>
              <a:t>audio_video</a:t>
            </a:r>
          </a:p>
          <a:p>
            <a:pPr marL="285750" indent="-285750">
              <a:buFont typeface="Arial" panose="020B0604020202020204" pitchFamily="34" charset="0"/>
              <a:buChar char="•"/>
            </a:pPr>
            <a:r>
              <a:rPr lang="en-US" sz="1400"/>
              <a:t>autoresponders</a:t>
            </a:r>
          </a:p>
          <a:p>
            <a:pPr marL="285750" indent="-285750">
              <a:buFont typeface="Arial" panose="020B0604020202020204" pitchFamily="34" charset="0"/>
              <a:buChar char="•"/>
            </a:pPr>
            <a:r>
              <a:rPr lang="en-US" sz="1400"/>
              <a:t>basics</a:t>
            </a:r>
          </a:p>
          <a:p>
            <a:pPr marL="285750" indent="-285750">
              <a:buFont typeface="Arial" panose="020B0604020202020204" pitchFamily="34" charset="0"/>
              <a:buChar char="•"/>
            </a:pPr>
            <a:r>
              <a:rPr lang="en-US" sz="1400"/>
              <a:t>conversion</a:t>
            </a:r>
          </a:p>
          <a:p>
            <a:pPr marL="285750" indent="-285750">
              <a:buFont typeface="Arial" panose="020B0604020202020204" pitchFamily="34" charset="0"/>
              <a:buChar char="•"/>
            </a:pPr>
            <a:r>
              <a:rPr lang="en-US" sz="1400"/>
              <a:t>copyrighting</a:t>
            </a:r>
          </a:p>
          <a:p>
            <a:pPr marL="285750" indent="-285750">
              <a:buFont typeface="Arial" panose="020B0604020202020204" pitchFamily="34" charset="0"/>
              <a:buChar char="•"/>
            </a:pPr>
            <a:r>
              <a:rPr lang="en-US" sz="1400"/>
              <a:t>direct_marketing</a:t>
            </a:r>
          </a:p>
          <a:p>
            <a:pPr marL="285750" indent="-285750">
              <a:buFont typeface="Arial" panose="020B0604020202020204" pitchFamily="34" charset="0"/>
              <a:buChar char="•"/>
            </a:pPr>
            <a:r>
              <a:rPr lang="en-US" sz="1400"/>
              <a:t>ebay</a:t>
            </a:r>
          </a:p>
          <a:p>
            <a:pPr marL="285750" indent="-285750">
              <a:buFont typeface="Arial" panose="020B0604020202020204" pitchFamily="34" charset="0"/>
              <a:buChar char="•"/>
            </a:pPr>
            <a:r>
              <a:rPr lang="en-US" sz="1400"/>
              <a:t>ebus_minisites</a:t>
            </a:r>
          </a:p>
          <a:p>
            <a:pPr marL="285750" indent="-285750">
              <a:buFont typeface="Arial" panose="020B0604020202020204" pitchFamily="34" charset="0"/>
              <a:buChar char="•"/>
            </a:pPr>
            <a:r>
              <a:rPr lang="en-US" sz="1400"/>
              <a:t>email_marketing</a:t>
            </a:r>
          </a:p>
          <a:p>
            <a:pPr marL="285750" indent="-285750">
              <a:buFont typeface="Arial" panose="020B0604020202020204" pitchFamily="34" charset="0"/>
              <a:buChar char="•"/>
            </a:pPr>
            <a:r>
              <a:rPr lang="en-US" sz="1400"/>
              <a:t>joint_ventures</a:t>
            </a:r>
          </a:p>
          <a:p>
            <a:pPr marL="285750" indent="-285750">
              <a:buFont typeface="Arial" panose="020B0604020202020204" pitchFamily="34" charset="0"/>
              <a:buChar char="•"/>
            </a:pPr>
            <a:r>
              <a:rPr lang="en-US" sz="1400"/>
              <a:t>affiliates</a:t>
            </a:r>
          </a:p>
          <a:p>
            <a:pPr marL="285750" indent="-285750">
              <a:buFont typeface="Arial" panose="020B0604020202020204" pitchFamily="34" charset="0"/>
              <a:buChar char="•"/>
            </a:pPr>
            <a:r>
              <a:rPr lang="en-US" sz="1400"/>
              <a:t>keywords</a:t>
            </a:r>
          </a:p>
          <a:p>
            <a:pPr marL="285750" indent="-285750">
              <a:buFont typeface="Arial" panose="020B0604020202020204" pitchFamily="34" charset="0"/>
              <a:buChar char="•"/>
            </a:pPr>
            <a:r>
              <a:rPr lang="en-US" sz="1400"/>
              <a:t>launch</a:t>
            </a:r>
          </a:p>
          <a:p>
            <a:pPr marL="285750" indent="-285750">
              <a:buFont typeface="Arial" panose="020B0604020202020204" pitchFamily="34" charset="0"/>
              <a:buChar char="•"/>
            </a:pPr>
            <a:r>
              <a:rPr lang="en-US" sz="1400"/>
              <a:t>law</a:t>
            </a:r>
          </a:p>
        </p:txBody>
      </p:sp>
      <p:sp>
        <p:nvSpPr>
          <p:cNvPr id="5" name="TextBox 4">
            <a:extLst>
              <a:ext uri="{FF2B5EF4-FFF2-40B4-BE49-F238E27FC236}">
                <a16:creationId xmlns:a16="http://schemas.microsoft.com/office/drawing/2014/main" id="{95B5C4B5-A934-F39F-939B-EF81CA013CD1}"/>
              </a:ext>
            </a:extLst>
          </p:cNvPr>
          <p:cNvSpPr txBox="1"/>
          <p:nvPr/>
        </p:nvSpPr>
        <p:spPr>
          <a:xfrm>
            <a:off x="3009418" y="1497852"/>
            <a:ext cx="1953074" cy="289310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market_research</a:t>
            </a:r>
          </a:p>
          <a:p>
            <a:pPr marL="285750" indent="-285750">
              <a:buFont typeface="Arial" panose="020B0604020202020204" pitchFamily="34" charset="0"/>
              <a:buChar char="•"/>
            </a:pPr>
            <a:r>
              <a:rPr lang="en-US" sz="1400"/>
              <a:t>marketing_people</a:t>
            </a:r>
          </a:p>
          <a:p>
            <a:pPr marL="285750" indent="-285750">
              <a:buFont typeface="Arial" panose="020B0604020202020204" pitchFamily="34" charset="0"/>
              <a:buChar char="•"/>
            </a:pPr>
            <a:r>
              <a:rPr lang="en-US" sz="1400"/>
              <a:t>membership_sites</a:t>
            </a:r>
          </a:p>
          <a:p>
            <a:pPr marL="285750" indent="-285750">
              <a:buFont typeface="Arial" panose="020B0604020202020204" pitchFamily="34" charset="0"/>
              <a:buChar char="•"/>
            </a:pPr>
            <a:r>
              <a:rPr lang="en-US" sz="1400"/>
              <a:t>multi_page_sale</a:t>
            </a:r>
          </a:p>
          <a:p>
            <a:pPr marL="285750" indent="-285750">
              <a:buFont typeface="Arial" panose="020B0604020202020204" pitchFamily="34" charset="0"/>
              <a:buChar char="•"/>
            </a:pPr>
            <a:r>
              <a:rPr lang="en-US" sz="1400"/>
              <a:t>on_offline</a:t>
            </a:r>
          </a:p>
          <a:p>
            <a:pPr marL="285750" indent="-285750">
              <a:buFont typeface="Arial" panose="020B0604020202020204" pitchFamily="34" charset="0"/>
              <a:buChar char="•"/>
            </a:pPr>
            <a:r>
              <a:rPr lang="en-US" sz="1400"/>
              <a:t>opt-in-page</a:t>
            </a:r>
          </a:p>
          <a:p>
            <a:pPr marL="285750" indent="-285750">
              <a:buFont typeface="Arial" panose="020B0604020202020204" pitchFamily="34" charset="0"/>
              <a:buChar char="•"/>
            </a:pPr>
            <a:r>
              <a:rPr lang="en-US" sz="1400"/>
              <a:t>order-page</a:t>
            </a:r>
          </a:p>
          <a:p>
            <a:pPr marL="285750" indent="-285750">
              <a:buFont typeface="Arial" panose="020B0604020202020204" pitchFamily="34" charset="0"/>
              <a:buChar char="•"/>
            </a:pPr>
            <a:r>
              <a:rPr lang="en-US" sz="1400"/>
              <a:t>outsourcing</a:t>
            </a:r>
          </a:p>
          <a:p>
            <a:pPr marL="285750" indent="-285750">
              <a:buFont typeface="Arial" panose="020B0604020202020204" pitchFamily="34" charset="0"/>
              <a:buChar char="•"/>
            </a:pPr>
            <a:r>
              <a:rPr lang="en-US" sz="1400"/>
              <a:t>pay_per_click</a:t>
            </a:r>
          </a:p>
          <a:p>
            <a:pPr marL="285750" indent="-285750">
              <a:buFont typeface="Arial" panose="020B0604020202020204" pitchFamily="34" charset="0"/>
              <a:buChar char="•"/>
            </a:pPr>
            <a:r>
              <a:rPr lang="en-US" sz="1400"/>
              <a:t>PR-Public-relations</a:t>
            </a:r>
          </a:p>
          <a:p>
            <a:pPr marL="285750" indent="-285750">
              <a:buFont typeface="Arial" panose="020B0604020202020204" pitchFamily="34" charset="0"/>
              <a:buChar char="•"/>
            </a:pPr>
            <a:r>
              <a:rPr lang="en-US" sz="1400"/>
              <a:t>product_creation</a:t>
            </a:r>
          </a:p>
          <a:p>
            <a:pPr marL="285750" indent="-285750">
              <a:buFont typeface="Arial" panose="020B0604020202020204" pitchFamily="34" charset="0"/>
              <a:buChar char="•"/>
            </a:pPr>
            <a:r>
              <a:rPr lang="en-US" sz="1400"/>
              <a:t>public_domain</a:t>
            </a:r>
          </a:p>
          <a:p>
            <a:pPr marL="285750" indent="-285750">
              <a:buFont typeface="Arial" panose="020B0604020202020204" pitchFamily="34" charset="0"/>
              <a:buChar char="•"/>
            </a:pPr>
            <a:r>
              <a:rPr lang="en-US" sz="1400"/>
              <a:t>public_speaking</a:t>
            </a:r>
          </a:p>
        </p:txBody>
      </p:sp>
      <p:sp>
        <p:nvSpPr>
          <p:cNvPr id="6" name="TextBox 5">
            <a:extLst>
              <a:ext uri="{FF2B5EF4-FFF2-40B4-BE49-F238E27FC236}">
                <a16:creationId xmlns:a16="http://schemas.microsoft.com/office/drawing/2014/main" id="{98CE9769-27B7-605A-B518-70250B019FD3}"/>
              </a:ext>
            </a:extLst>
          </p:cNvPr>
          <p:cNvSpPr txBox="1"/>
          <p:nvPr/>
        </p:nvSpPr>
        <p:spPr>
          <a:xfrm>
            <a:off x="5440102" y="1495493"/>
            <a:ext cx="2222339" cy="267765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search_engines</a:t>
            </a:r>
          </a:p>
          <a:p>
            <a:pPr marL="285750" indent="-285750">
              <a:buFont typeface="Arial" panose="020B0604020202020204" pitchFamily="34" charset="0"/>
              <a:buChar char="•"/>
            </a:pPr>
            <a:r>
              <a:rPr lang="en-US" sz="1400"/>
              <a:t>shopping-cart-billing</a:t>
            </a:r>
          </a:p>
          <a:p>
            <a:pPr marL="285750" indent="-285750">
              <a:buFont typeface="Arial" panose="020B0604020202020204" pitchFamily="34" charset="0"/>
              <a:buChar char="•"/>
            </a:pPr>
            <a:r>
              <a:rPr lang="en-US" sz="1400"/>
              <a:t>success</a:t>
            </a:r>
          </a:p>
          <a:p>
            <a:pPr marL="285750" indent="-285750">
              <a:buFont typeface="Arial" panose="020B0604020202020204" pitchFamily="34" charset="0"/>
              <a:buChar char="•"/>
            </a:pPr>
            <a:r>
              <a:rPr lang="en-US" sz="1400"/>
              <a:t>teleseminars</a:t>
            </a:r>
          </a:p>
          <a:p>
            <a:pPr marL="285750" indent="-285750">
              <a:buFont typeface="Arial" panose="020B0604020202020204" pitchFamily="34" charset="0"/>
              <a:buChar char="•"/>
            </a:pPr>
            <a:r>
              <a:rPr lang="en-US" sz="1400"/>
              <a:t>testing</a:t>
            </a:r>
          </a:p>
          <a:p>
            <a:pPr marL="285750" indent="-285750">
              <a:buFont typeface="Arial" panose="020B0604020202020204" pitchFamily="34" charset="0"/>
              <a:buChar char="•"/>
            </a:pPr>
            <a:r>
              <a:rPr lang="en-US" sz="1400"/>
              <a:t>time_management</a:t>
            </a:r>
          </a:p>
          <a:p>
            <a:pPr marL="285750" indent="-285750">
              <a:buFont typeface="Arial" panose="020B0604020202020204" pitchFamily="34" charset="0"/>
              <a:buChar char="•"/>
            </a:pPr>
            <a:r>
              <a:rPr lang="en-US" sz="1400"/>
              <a:t>tracking</a:t>
            </a:r>
          </a:p>
          <a:p>
            <a:pPr marL="285750" indent="-285750">
              <a:buFont typeface="Arial" panose="020B0604020202020204" pitchFamily="34" charset="0"/>
              <a:buChar char="•"/>
            </a:pPr>
            <a:r>
              <a:rPr lang="en-US" sz="1400"/>
              <a:t>traffic</a:t>
            </a:r>
          </a:p>
          <a:p>
            <a:pPr marL="285750" indent="-285750">
              <a:buFont typeface="Arial" panose="020B0604020202020204" pitchFamily="34" charset="0"/>
              <a:buChar char="•"/>
            </a:pPr>
            <a:r>
              <a:rPr lang="en-US" sz="1400"/>
              <a:t>twopage</a:t>
            </a:r>
          </a:p>
          <a:p>
            <a:pPr marL="285750" indent="-285750">
              <a:buFont typeface="Arial" panose="020B0604020202020204" pitchFamily="34" charset="0"/>
              <a:buChar char="•"/>
            </a:pPr>
            <a:r>
              <a:rPr lang="en-US" sz="1400"/>
              <a:t>upsell</a:t>
            </a:r>
          </a:p>
          <a:p>
            <a:pPr marL="285750" indent="-285750">
              <a:buFont typeface="Arial" panose="020B0604020202020204" pitchFamily="34" charset="0"/>
              <a:buChar char="•"/>
            </a:pPr>
            <a:r>
              <a:rPr lang="en-US" sz="1400"/>
              <a:t>video_on_web</a:t>
            </a:r>
          </a:p>
          <a:p>
            <a:pPr marL="285750" indent="-285750">
              <a:buFont typeface="Arial" panose="020B0604020202020204" pitchFamily="34" charset="0"/>
              <a:buChar char="•"/>
            </a:pPr>
            <a:r>
              <a:rPr lang="en-US" sz="1400"/>
              <a:t>wordpress</a:t>
            </a:r>
          </a:p>
        </p:txBody>
      </p:sp>
    </p:spTree>
    <p:extLst>
      <p:ext uri="{BB962C8B-B14F-4D97-AF65-F5344CB8AC3E}">
        <p14:creationId xmlns:p14="http://schemas.microsoft.com/office/powerpoint/2010/main" val="6544089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2270</TotalTime>
  <Words>2540</Words>
  <Application>Microsoft Macintosh PowerPoint</Application>
  <PresentationFormat>Widescreen</PresentationFormat>
  <Paragraphs>320</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Calibri Light</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194</cp:revision>
  <dcterms:created xsi:type="dcterms:W3CDTF">2021-08-13T19:21:10Z</dcterms:created>
  <dcterms:modified xsi:type="dcterms:W3CDTF">2022-09-18T19:11:16Z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