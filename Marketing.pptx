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87" r:id="rId2"/>
    <p:sldId id="28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52"/>
    <p:restoredTop sz="94490"/>
  </p:normalViewPr>
  <p:slideViewPr>
    <p:cSldViewPr snapToGrid="0" snapToObjects="1">
      <p:cViewPr varScale="1">
        <p:scale>
          <a:sx n="101" d="100"/>
          <a:sy n="101" d="100"/>
        </p:scale>
        <p:origin x="232" y="6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0AF671-4685-124D-A41D-446D235EA8CE}" type="datetimeFigureOut">
              <a:t>9/10/22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DFC609-AB91-B841-B89F-D8507929D09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576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4F27C-726C-F34D-8409-80F55E545E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92C0DA-692D-0D4F-A5E2-14D77E98D5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228344-ACB5-2544-8F64-8F48AB36A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9/10/22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482548-988C-A141-886B-1288B5E79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C00C34-78F2-0446-AAC8-AE2EAB4C8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607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C70C7-DB12-B444-B1B2-C48E25E41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2DCFE-53F0-024F-A617-2BD896C61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8859B6-E1E3-B04D-A047-8D2EC0DF4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9/10/22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325EF9-1164-754C-8B5A-763A5AC7B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42791D-421D-8745-9562-45793F408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145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FF0F6-6C15-8249-BFD5-99E1F52B9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EF16EF-BE46-664B-B253-58617527F9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2407D8-A253-D24E-A3D2-6016577AD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9/10/22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7AA5E3-13D0-7841-BCC6-417B0E16B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3E12E-BCBD-B34C-92B4-7613D39B4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417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58562-4DC4-854A-BBBB-16F35B6A3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DE5C7F-96F1-4846-9EC3-8402DD6885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88E0DC-C318-0949-AA4D-E20EF7E5D4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04ABB1-6F7E-0C41-BAD8-BF0C97046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9/10/22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FCE178-590D-4F41-98C0-D37428175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570DF3-6012-7B47-B3FB-86489127C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8591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EE067-6F58-BC40-A770-31355823C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C284D0-F04D-1942-9055-6543BB9348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0E4A69-608C-D54B-84E7-577BA76DA8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012351-7762-474F-993C-C1DCC7CAF7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6FF6DA-38DB-F642-8582-12853CF8A6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B3E2CD-2374-D241-A907-BDC28A29D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9/10/22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02861F-06F7-4F4F-AE77-854CE7022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BEB302-265A-F345-A27F-189DC71E2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816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740CE-9613-DD4B-910D-FD9367F5F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97B97E-B666-AB4C-8895-6EFDBB1F5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9/10/22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4A0898-83AF-6B4E-A793-A75BA4A23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5B0A5B-EF6C-A543-AF59-5B027487C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9589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AADD5D-3B4C-FC46-A3AB-8847BEE31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9/10/22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81BCAC-3BF4-664B-A180-3CE656F10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452949-739C-F940-990E-7C1F76905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7232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6026B-8F91-E843-929E-B8D193A41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3901C9-5D06-7446-893E-C386DE78EA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AEFEC-6B69-9D40-BF13-C90D122DD4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51C260-B81F-4C45-B502-D6C13CE2F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9/10/22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523561-E5EA-834B-85DF-19C0AC080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E22E99-7ABD-C545-B6B9-9FDD51D6B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0877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6A3DA-03F9-F24C-98B3-D267B4CDD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068B0B0-4858-364A-B7CA-CA05AB1252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DCA157-AB94-9646-8C72-FF9ECCC5BA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31188-EFC7-354D-AF12-DFD329BD0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9/10/22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15353E-B6F9-C245-8A28-1A7DA9258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0521E6-0D62-AD41-968D-6D110007B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55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2D366-7954-574E-B227-42020C5D4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B257F7-9A11-6143-B3BE-65EA79F1EF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6E38A-4D17-0E45-B253-CFFA73B8A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9/10/22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708F96-4E3C-DD49-9DA6-E58D1E472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13D00-BFC8-8C4D-86CD-C22BB04A8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991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9FACBD-77A5-8C49-B88D-B07B46866C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3F7211-16D2-B54B-811F-C40782CF76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597539-AE59-3C4F-92BD-FFD32CB14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9/10/22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2887D4-9F35-694F-ABCC-C43262D3C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0862F5-D353-1743-8037-74EB4E528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489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22AB8C-3B85-8246-A8C2-8FF1A99E4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2DDD0A-B722-F14C-9538-4495689748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1C874F-E44E-BF44-9BF8-5BE6F387BE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90B581-06C6-5A4B-9E30-3EAD5667F4B3}" type="datetimeFigureOut">
              <a:rPr lang="en-US" smtClean="0"/>
              <a:t>9/10/22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146542-B3B2-504E-9846-81A0633DE4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49DBBE-02CA-2744-8992-09E502DE00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933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7F35B93-487F-1D49-A679-7ACD78250CA1}"/>
              </a:ext>
            </a:extLst>
          </p:cNvPr>
          <p:cNvSpPr/>
          <p:nvPr/>
        </p:nvSpPr>
        <p:spPr>
          <a:xfrm>
            <a:off x="4089537" y="445983"/>
            <a:ext cx="296188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4000" b="1" dirty="0">
                <a:solidFill>
                  <a:srgbClr val="00B0F0"/>
                </a:solidFill>
                <a:latin typeface="Arial" panose="020B0604020202020204" pitchFamily="34" charset="0"/>
              </a:rPr>
              <a:t>Marketing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B86BEC-2141-BAA6-65A1-4AEA12A5D2DA}"/>
              </a:ext>
            </a:extLst>
          </p:cNvPr>
          <p:cNvSpPr txBox="1"/>
          <p:nvPr/>
        </p:nvSpPr>
        <p:spPr>
          <a:xfrm>
            <a:off x="6864295" y="5004393"/>
            <a:ext cx="1986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for a good client </a:t>
            </a:r>
          </a:p>
          <a:p>
            <a:r>
              <a:rPr lang="en-US" sz="1400"/>
              <a:t>we are </a:t>
            </a:r>
            <a:r>
              <a:rPr lang="en-US" sz="1400" b="1">
                <a:solidFill>
                  <a:srgbClr val="FF0000"/>
                </a:solidFill>
              </a:rPr>
              <a:t>Welcome Guest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101775-F132-E698-2227-86864BEC59B9}"/>
              </a:ext>
            </a:extLst>
          </p:cNvPr>
          <p:cNvSpPr txBox="1"/>
          <p:nvPr/>
        </p:nvSpPr>
        <p:spPr>
          <a:xfrm>
            <a:off x="2932224" y="5004393"/>
            <a:ext cx="1986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for a Cold Prospect</a:t>
            </a:r>
          </a:p>
          <a:p>
            <a:r>
              <a:rPr lang="en-US" sz="1400"/>
              <a:t>we are "</a:t>
            </a:r>
            <a:r>
              <a:rPr lang="en-US" sz="1400" b="1">
                <a:solidFill>
                  <a:srgbClr val="FF0000"/>
                </a:solidFill>
              </a:rPr>
              <a:t>Annoying Pest</a:t>
            </a:r>
            <a:r>
              <a:rPr lang="en-US" sz="1400"/>
              <a:t>"</a:t>
            </a:r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F41CBF7D-70E0-2A99-49F3-F370EFC8C011}"/>
              </a:ext>
            </a:extLst>
          </p:cNvPr>
          <p:cNvSpPr/>
          <p:nvPr/>
        </p:nvSpPr>
        <p:spPr>
          <a:xfrm>
            <a:off x="4054802" y="2380593"/>
            <a:ext cx="3615560" cy="4477407"/>
          </a:xfrm>
          <a:prstGeom prst="arc">
            <a:avLst>
              <a:gd name="adj1" fmla="val 10695376"/>
              <a:gd name="adj2" fmla="val 0"/>
            </a:avLst>
          </a:prstGeom>
          <a:ln w="635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B4A747CF-BA11-868C-5C43-7E0BBBC65EE9}"/>
              </a:ext>
            </a:extLst>
          </p:cNvPr>
          <p:cNvSpPr/>
          <p:nvPr/>
        </p:nvSpPr>
        <p:spPr>
          <a:xfrm rot="17724297">
            <a:off x="3445201" y="3405352"/>
            <a:ext cx="1219200" cy="1996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11319C-187A-6C91-3853-28F3C40E41E9}"/>
              </a:ext>
            </a:extLst>
          </p:cNvPr>
          <p:cNvSpPr txBox="1"/>
          <p:nvPr/>
        </p:nvSpPr>
        <p:spPr>
          <a:xfrm>
            <a:off x="4406521" y="3243590"/>
            <a:ext cx="129739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Uphill</a:t>
            </a:r>
          </a:p>
          <a:p>
            <a:r>
              <a:rPr lang="en-US" sz="1400"/>
              <a:t>Hard work</a:t>
            </a:r>
          </a:p>
          <a:p>
            <a:r>
              <a:rPr lang="en-US" sz="1400"/>
              <a:t>building repo</a:t>
            </a: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521D3E40-7E43-CFF2-A58C-3E0FA0AE2BB9}"/>
              </a:ext>
            </a:extLst>
          </p:cNvPr>
          <p:cNvSpPr/>
          <p:nvPr/>
        </p:nvSpPr>
        <p:spPr>
          <a:xfrm rot="3503018">
            <a:off x="6993365" y="3329151"/>
            <a:ext cx="1219200" cy="1996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47B351-BC77-8B1A-BDED-BEE43FB6A2F2}"/>
              </a:ext>
            </a:extLst>
          </p:cNvPr>
          <p:cNvSpPr txBox="1"/>
          <p:nvPr/>
        </p:nvSpPr>
        <p:spPr>
          <a:xfrm>
            <a:off x="6388100" y="3243590"/>
            <a:ext cx="12973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Downhill</a:t>
            </a:r>
          </a:p>
          <a:p>
            <a:r>
              <a:rPr lang="en-US" sz="1400"/>
              <a:t>Easy sales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99499F-52E8-5102-9913-F881F4AAD3FD}"/>
              </a:ext>
            </a:extLst>
          </p:cNvPr>
          <p:cNvSpPr txBox="1"/>
          <p:nvPr/>
        </p:nvSpPr>
        <p:spPr>
          <a:xfrm>
            <a:off x="130018" y="1642681"/>
            <a:ext cx="33020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Marketing = Selling in Advance</a:t>
            </a:r>
          </a:p>
          <a:p>
            <a:endParaRPr lang="en-US"/>
          </a:p>
          <a:p>
            <a:r>
              <a:rPr lang="en-US"/>
              <a:t>Marketing educates, builds repo, creates trust, creates comfort</a:t>
            </a:r>
          </a:p>
          <a:p>
            <a:endParaRPr lang="en-US"/>
          </a:p>
          <a:p>
            <a:r>
              <a:rPr lang="en-US"/>
              <a:t>Marketing does this prep work automatically and cost-effectively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77946D-FE18-E8D6-7315-FDB99FAFEF00}"/>
              </a:ext>
            </a:extLst>
          </p:cNvPr>
          <p:cNvSpPr txBox="1"/>
          <p:nvPr/>
        </p:nvSpPr>
        <p:spPr>
          <a:xfrm>
            <a:off x="8495758" y="1811597"/>
            <a:ext cx="30861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Selling is easy when prospects are already pre-interested, pre-motivated, pre-qualified, &amp; pre-disposed to do business with you</a:t>
            </a:r>
          </a:p>
        </p:txBody>
      </p:sp>
    </p:spTree>
    <p:extLst>
      <p:ext uri="{BB962C8B-B14F-4D97-AF65-F5344CB8AC3E}">
        <p14:creationId xmlns:p14="http://schemas.microsoft.com/office/powerpoint/2010/main" val="2985056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7F35B93-487F-1D49-A679-7ACD78250CA1}"/>
              </a:ext>
            </a:extLst>
          </p:cNvPr>
          <p:cNvSpPr/>
          <p:nvPr/>
        </p:nvSpPr>
        <p:spPr>
          <a:xfrm>
            <a:off x="2775018" y="357083"/>
            <a:ext cx="664196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4000" b="1" dirty="0">
                <a:solidFill>
                  <a:srgbClr val="00B0F0"/>
                </a:solidFill>
                <a:latin typeface="Arial" panose="020B0604020202020204" pitchFamily="34" charset="0"/>
              </a:rPr>
              <a:t>Typical Marketing Funnel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D59AE5-D04D-38DA-9DF7-81B0D93E17DE}"/>
              </a:ext>
            </a:extLst>
          </p:cNvPr>
          <p:cNvSpPr txBox="1"/>
          <p:nvPr/>
        </p:nvSpPr>
        <p:spPr>
          <a:xfrm>
            <a:off x="279400" y="1676400"/>
            <a:ext cx="2006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Information Hooks</a:t>
            </a:r>
          </a:p>
          <a:p>
            <a:r>
              <a:rPr lang="en-US" sz="1400">
                <a:solidFill>
                  <a:srgbClr val="00B050"/>
                </a:solidFill>
              </a:rPr>
              <a:t>Hundreds/thousands of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YouTube Videos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Linkedin Posts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Mewdium Articles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Quora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StackOverflow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Facebook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Instagram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etc.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0ECD3E-FACA-894F-9D1E-634527C097F3}"/>
              </a:ext>
            </a:extLst>
          </p:cNvPr>
          <p:cNvSpPr txBox="1"/>
          <p:nvPr/>
        </p:nvSpPr>
        <p:spPr>
          <a:xfrm>
            <a:off x="279400" y="4881786"/>
            <a:ext cx="1473200" cy="307777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lang="en-US" sz="1400"/>
              <a:t>Subscriptions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9468E329-BBC5-DBDC-EA65-9FD92760B984}"/>
              </a:ext>
            </a:extLst>
          </p:cNvPr>
          <p:cNvSpPr/>
          <p:nvPr/>
        </p:nvSpPr>
        <p:spPr>
          <a:xfrm rot="4320963">
            <a:off x="719405" y="4239085"/>
            <a:ext cx="616018" cy="336834"/>
          </a:xfrm>
          <a:prstGeom prst="rightArrow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7744F2-C292-F900-C46E-5D6FC01C106D}"/>
              </a:ext>
            </a:extLst>
          </p:cNvPr>
          <p:cNvSpPr txBox="1"/>
          <p:nvPr/>
        </p:nvSpPr>
        <p:spPr>
          <a:xfrm>
            <a:off x="3318477" y="2274389"/>
            <a:ext cx="2006600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Landing Pages</a:t>
            </a:r>
          </a:p>
          <a:p>
            <a:r>
              <a:rPr lang="en-US" sz="1400">
                <a:solidFill>
                  <a:srgbClr val="00B050"/>
                </a:solidFill>
              </a:rPr>
              <a:t>10-20 targeted pages</a:t>
            </a:r>
            <a:endParaRPr lang="en-US" sz="1400"/>
          </a:p>
          <a:p>
            <a:r>
              <a:rPr lang="en-US" sz="1400"/>
              <a:t>Offer Free Reports in exchange for email address. Reports promise to explain how to avoid mistakes and unnecessary costs, etc.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024347-D316-C03A-39D8-9D8AF19528B7}"/>
              </a:ext>
            </a:extLst>
          </p:cNvPr>
          <p:cNvSpPr txBox="1"/>
          <p:nvPr/>
        </p:nvSpPr>
        <p:spPr>
          <a:xfrm>
            <a:off x="6184902" y="2562427"/>
            <a:ext cx="2451098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Email Autoresponder</a:t>
            </a:r>
          </a:p>
          <a:p>
            <a:r>
              <a:rPr lang="en-US" sz="1400">
                <a:solidFill>
                  <a:srgbClr val="00B050"/>
                </a:solidFill>
              </a:rPr>
              <a:t>10-20 targeted sequences</a:t>
            </a:r>
            <a:endParaRPr lang="en-US" sz="1400"/>
          </a:p>
          <a:p>
            <a:r>
              <a:rPr lang="en-US" sz="1400"/>
              <a:t>Builds relationship</a:t>
            </a:r>
          </a:p>
          <a:p>
            <a:r>
              <a:rPr lang="en-US" sz="1400"/>
              <a:t>Build trust</a:t>
            </a:r>
          </a:p>
          <a:p>
            <a:r>
              <a:rPr lang="en-US" sz="1400"/>
              <a:t>Triggers Sales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92E999-75D0-4625-5B7F-004D30938B82}"/>
              </a:ext>
            </a:extLst>
          </p:cNvPr>
          <p:cNvSpPr txBox="1"/>
          <p:nvPr/>
        </p:nvSpPr>
        <p:spPr>
          <a:xfrm>
            <a:off x="9055100" y="2799040"/>
            <a:ext cx="1498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Sales People</a:t>
            </a:r>
          </a:p>
          <a:p>
            <a:r>
              <a:rPr lang="en-US" sz="1400"/>
              <a:t>Closing Sales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C8CFC45-E727-DD0B-9D82-C2C9837D7E53}"/>
              </a:ext>
            </a:extLst>
          </p:cNvPr>
          <p:cNvCxnSpPr/>
          <p:nvPr/>
        </p:nvCxnSpPr>
        <p:spPr>
          <a:xfrm>
            <a:off x="762000" y="889000"/>
            <a:ext cx="9956800" cy="1540251"/>
          </a:xfrm>
          <a:prstGeom prst="line">
            <a:avLst/>
          </a:prstGeom>
          <a:ln w="88900">
            <a:solidFill>
              <a:srgbClr val="92D050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D9AB1B-464D-8E23-BC81-EBFAA7D5D636}"/>
              </a:ext>
            </a:extLst>
          </p:cNvPr>
          <p:cNvCxnSpPr>
            <a:cxnSpLocks/>
          </p:cNvCxnSpPr>
          <p:nvPr/>
        </p:nvCxnSpPr>
        <p:spPr>
          <a:xfrm flipV="1">
            <a:off x="762000" y="3793533"/>
            <a:ext cx="9956800" cy="1967881"/>
          </a:xfrm>
          <a:prstGeom prst="line">
            <a:avLst/>
          </a:prstGeom>
          <a:ln w="88900">
            <a:solidFill>
              <a:srgbClr val="92D050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84784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1695</TotalTime>
  <Words>136</Words>
  <Application>Microsoft Macintosh PowerPoint</Application>
  <PresentationFormat>Widescreen</PresentationFormat>
  <Paragraphs>38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173</cp:revision>
  <dcterms:created xsi:type="dcterms:W3CDTF">2021-08-13T19:21:10Z</dcterms:created>
  <dcterms:modified xsi:type="dcterms:W3CDTF">2022-09-11T03:29:01Z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2022-09-02T20:43:44Z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c1d4db92-49ba-4377-9ce0-a34b8c197608</vt:lpwstr>
  </property>
  <property fmtid="{D5CDD505-2E9C-101B-9397-08002B2CF9AE}" pid="8" name="MSIP_Label_4f518368-b969-4042-91d9-8939bd921da2_ContentBits">
    <vt:lpwstr>0</vt:lpwstr>
  </property>
</Properties>
</file>