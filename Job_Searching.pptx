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87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80"/>
    <p:restoredTop sz="94150"/>
  </p:normalViewPr>
  <p:slideViewPr>
    <p:cSldViewPr snapToGrid="0" snapToObjects="1">
      <p:cViewPr varScale="1">
        <p:scale>
          <a:sx n="108" d="100"/>
          <a:sy n="108" d="100"/>
        </p:scale>
        <p:origin x="23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9/19/22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cmu.edu/~ppr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rashantreddy" TargetMode="External"/><Relationship Id="rId4" Type="http://schemas.openxmlformats.org/officeDocument/2006/relationships/hyperlink" Target="https://www.linkedin.com/in/prashantreddy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mazon.com/Raised-Myself-Failure-Success-Selling/dp/067179437X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legacy.com/us/obituaries/atlanta/name/charles-mcaliley-obituary?n=charles-mcaliley&amp;pid=86229824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ilovemarketing.com/" TargetMode="External"/><Relationship Id="rId7" Type="http://schemas.openxmlformats.org/officeDocument/2006/relationships/image" Target="../media/image7.jpeg"/><Relationship Id="rId2" Type="http://schemas.openxmlformats.org/officeDocument/2006/relationships/hyperlink" Target="https://en.wikipedia.org/wiki/What_Color_Is_Your_Parachute%3F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hyperlink" Target="https://geniusnetwork.com/giverbook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1272665" y="430793"/>
            <a:ext cx="964667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Job Searching – Marketing Yourself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5442C-BB92-9940-C115-1FCBB476EFE9}"/>
              </a:ext>
            </a:extLst>
          </p:cNvPr>
          <p:cNvSpPr txBox="1"/>
          <p:nvPr/>
        </p:nvSpPr>
        <p:spPr>
          <a:xfrm>
            <a:off x="2398414" y="1801780"/>
            <a:ext cx="7395172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no stability. Average job duration was less than 2 years for a long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technologies change fast. You need to learn new stuff to be marketable. You have to change, to adapt. To </a:t>
            </a:r>
            <a:r>
              <a:rPr lang="en-US" sz="1400" b="1">
                <a:solidFill>
                  <a:srgbClr val="FF0000"/>
                </a:solidFill>
              </a:rPr>
              <a:t>educate yourself into employment</a:t>
            </a:r>
            <a:r>
              <a:rPr lang="en-US" sz="14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be </a:t>
            </a:r>
            <a:r>
              <a:rPr lang="en-US" sz="1400" b="1">
                <a:solidFill>
                  <a:srgbClr val="FF0000"/>
                </a:solidFill>
              </a:rPr>
              <a:t>on the front of the wave</a:t>
            </a:r>
            <a:r>
              <a:rPr lang="en-US" sz="1400"/>
              <a:t> to receive high rate/salary. New job types become commoditized (and salaries drop) in just few 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Most people don't educate themselves until they are forced to do so. So they are not increasing their salary. In fact, their effective compensation may go down, and competition increase.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have to compete also against remote outsorcing to other countries and against outsourcing to computers (automation, cloud, AI)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Many jobs are becoming extinct (for example, the number of human traders at financial companies has fallen down to about 1% of what it used to be).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5DE3DF-C323-71AE-F3A0-F60BB2BEB696}"/>
              </a:ext>
            </a:extLst>
          </p:cNvPr>
          <p:cNvSpPr txBox="1"/>
          <p:nvPr/>
        </p:nvSpPr>
        <p:spPr>
          <a:xfrm>
            <a:off x="311383" y="1315124"/>
            <a:ext cx="7634176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Strategy</a:t>
            </a:r>
            <a:r>
              <a:rPr lang="en-US" sz="1400"/>
              <a:t> is a long-term (several years) direction. A vision.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Tactics</a:t>
            </a:r>
            <a:r>
              <a:rPr lang="en-US" sz="1400"/>
              <a:t> is short-term, specific, paying bills this month.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concentrate on tactics and not setting long-term strategic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overestimate what they can do short term (in 3 months), and under-estimate what they can achieve long-term (in 3-5-10 years).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set a </a:t>
            </a:r>
            <a:r>
              <a:rPr lang="en-US" sz="1400" b="1">
                <a:solidFill>
                  <a:srgbClr val="FF0000"/>
                </a:solidFill>
              </a:rPr>
              <a:t>strategic direction</a:t>
            </a:r>
            <a:r>
              <a:rPr lang="en-US" sz="1400"/>
              <a:t>. For me it is new technologies (Data Science, ML &amp; AI, Crypto)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Once you decided on your strategic direction, you need to find examples of people who you can use as </a:t>
            </a:r>
            <a:r>
              <a:rPr lang="en-US" sz="1400" b="1">
                <a:solidFill>
                  <a:srgbClr val="FF0000"/>
                </a:solidFill>
              </a:rPr>
              <a:t>role models</a:t>
            </a:r>
            <a:r>
              <a:rPr lang="en-US" sz="140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 easiest way to achieve success is to follow someone else's steps</a:t>
            </a:r>
            <a:r>
              <a:rPr lang="en-US" sz="1400"/>
              <a:t>. Venturing into a new field is like stepping on a minefield. You don't know where the mines are. But if you have someone who knows how to cross the field, then you can repeat his success simply by following his steps.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Educate yourself.</a:t>
            </a:r>
            <a:r>
              <a:rPr lang="en-US" sz="1400"/>
              <a:t> Some knowledge you can find by searching (googling) for it. For some knowledge you should pay. But this is always a good investment.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8B6856-2D9A-4CBF-2FDA-49E83353DC28}"/>
              </a:ext>
            </a:extLst>
          </p:cNvPr>
          <p:cNvSpPr txBox="1"/>
          <p:nvPr/>
        </p:nvSpPr>
        <p:spPr>
          <a:xfrm>
            <a:off x="0" y="0"/>
            <a:ext cx="4274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Tactics and Strategy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24DCE3-4C23-4811-1DF7-AF61C316B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17618" y="797442"/>
            <a:ext cx="1084077" cy="144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8F83B0-6417-73CB-73CC-55ACA1739C07}"/>
              </a:ext>
            </a:extLst>
          </p:cNvPr>
          <p:cNvSpPr txBox="1"/>
          <p:nvPr/>
        </p:nvSpPr>
        <p:spPr>
          <a:xfrm>
            <a:off x="8527313" y="2337582"/>
            <a:ext cx="3664688" cy="3185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Interesting example - Prashant Reddy:</a:t>
            </a:r>
            <a:br>
              <a:rPr lang="en-US" sz="1400"/>
            </a:br>
            <a:r>
              <a:rPr lang="en-US" sz="1100"/>
              <a:t> - </a:t>
            </a:r>
            <a:r>
              <a:rPr lang="en-US" sz="1100">
                <a:hlinkClick r:id="rId3"/>
              </a:rPr>
              <a:t>http://www.cs.cmu.edu/~ppr/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4"/>
              </a:rPr>
              <a:t>https://www.linkedin.com/in/prashantreddy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5"/>
              </a:rPr>
              <a:t>https://www.facebook.com/prashantreddy</a:t>
            </a:r>
            <a:br>
              <a:rPr lang="en-US" sz="1400"/>
            </a:br>
            <a:endParaRPr lang="en-US" sz="1400"/>
          </a:p>
          <a:p>
            <a:r>
              <a:rPr lang="en-US" sz="1400"/>
              <a:t>In ~2009 </a:t>
            </a:r>
            <a:r>
              <a:rPr lang="en-US" sz="1400" b="1">
                <a:solidFill>
                  <a:srgbClr val="FF0000"/>
                </a:solidFill>
              </a:rPr>
              <a:t>he has left his 7-figure income</a:t>
            </a:r>
            <a:r>
              <a:rPr lang="en-US" sz="1400"/>
              <a:t> at Morgan Stanley, and has become a Ph.D. student at Carnegie Mellon in the area of Machine Learning. </a:t>
            </a:r>
          </a:p>
          <a:p>
            <a:r>
              <a:rPr lang="en-US" sz="1400"/>
              <a:t>He has later gone to Google and J.P. Morgan. </a:t>
            </a:r>
          </a:p>
          <a:p>
            <a:endParaRPr lang="en-US" sz="1400"/>
          </a:p>
          <a:p>
            <a:r>
              <a:rPr lang="en-US" sz="1400"/>
              <a:t>This is a very interesting example of selecting and staying on strategic course. Usually people don't want to sacrifice their high salaries. But - he did.</a:t>
            </a:r>
          </a:p>
        </p:txBody>
      </p:sp>
    </p:spTree>
    <p:extLst>
      <p:ext uri="{BB962C8B-B14F-4D97-AF65-F5344CB8AC3E}">
        <p14:creationId xmlns:p14="http://schemas.microsoft.com/office/powerpoint/2010/main" val="1546443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E59574-228C-092F-834A-0170F9F2C57B}"/>
              </a:ext>
            </a:extLst>
          </p:cNvPr>
          <p:cNvSpPr txBox="1"/>
          <p:nvPr/>
        </p:nvSpPr>
        <p:spPr>
          <a:xfrm>
            <a:off x="3171265" y="1740370"/>
            <a:ext cx="5592725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If you educate yourself proactively in advance: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be ahead of the crowd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have little or no competition - and will receive higher salary</a:t>
            </a:r>
          </a:p>
          <a:p>
            <a:endParaRPr lang="en-US" sz="1400"/>
          </a:p>
          <a:p>
            <a:r>
              <a:rPr lang="en-US" sz="1400"/>
              <a:t>Think in terms of studying in a college.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2 weeks in advance - you get high grades.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2 weeks late - you get low grades.</a:t>
            </a:r>
          </a:p>
          <a:p>
            <a:endParaRPr lang="en-US" sz="1400"/>
          </a:p>
          <a:p>
            <a:r>
              <a:rPr lang="en-US" sz="1400"/>
              <a:t>Over a period of 5 years the shift of 2 weeks is only 2/(5*50) ~ 1 percent.</a:t>
            </a:r>
          </a:p>
          <a:p>
            <a:endParaRPr lang="en-US" sz="1400"/>
          </a:p>
          <a:p>
            <a:r>
              <a:rPr lang="en-US" sz="1400"/>
              <a:t>But this 1% shift in timing may </a:t>
            </a:r>
          </a:p>
          <a:p>
            <a:r>
              <a:rPr lang="en-US" sz="1400"/>
              <a:t>result in 100% .. 500% shift in salary in real life.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E6B90B-86CC-1127-F094-EF01FA3B8D57}"/>
              </a:ext>
            </a:extLst>
          </p:cNvPr>
          <p:cNvSpPr txBox="1"/>
          <p:nvPr/>
        </p:nvSpPr>
        <p:spPr>
          <a:xfrm>
            <a:off x="0" y="0"/>
            <a:ext cx="7155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Educate yourself "in advance". Be proactive</a:t>
            </a:r>
          </a:p>
        </p:txBody>
      </p:sp>
    </p:spTree>
    <p:extLst>
      <p:ext uri="{BB962C8B-B14F-4D97-AF65-F5344CB8AC3E}">
        <p14:creationId xmlns:p14="http://schemas.microsoft.com/office/powerpoint/2010/main" val="760052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984BF7-59DE-F4CF-562F-9537F58A14A1}"/>
              </a:ext>
            </a:extLst>
          </p:cNvPr>
          <p:cNvSpPr txBox="1"/>
          <p:nvPr/>
        </p:nvSpPr>
        <p:spPr>
          <a:xfrm>
            <a:off x="1674421" y="1327619"/>
            <a:ext cx="7853916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Catch-22:</a:t>
            </a:r>
          </a:p>
          <a:p>
            <a:r>
              <a:rPr lang="en-US" sz="1400"/>
              <a:t>     to get a job you need experience,</a:t>
            </a:r>
          </a:p>
          <a:p>
            <a:r>
              <a:rPr lang="en-US" sz="1400"/>
              <a:t>     to get experience you need a job.</a:t>
            </a:r>
          </a:p>
          <a:p>
            <a:endParaRPr lang="en-US" sz="1400"/>
          </a:p>
          <a:p>
            <a:r>
              <a:rPr lang="en-US" sz="1400"/>
              <a:t>You always get this problem when you want to get a higher position.</a:t>
            </a:r>
          </a:p>
          <a:p>
            <a:r>
              <a:rPr lang="en-US" sz="1400"/>
              <a:t>For example, you want to become a manager – but you don't have management experience.</a:t>
            </a:r>
          </a:p>
          <a:p>
            <a:endParaRPr lang="en-US" sz="1400"/>
          </a:p>
          <a:p>
            <a:r>
              <a:rPr lang="en-US" sz="1400"/>
              <a:t>You always have this problem, because technologies change.</a:t>
            </a:r>
          </a:p>
          <a:p>
            <a:r>
              <a:rPr lang="en-US" sz="1400"/>
              <a:t>So next job may require technology which you haven't used on your previous job.</a:t>
            </a:r>
          </a:p>
          <a:p>
            <a:endParaRPr lang="en-US" sz="1400"/>
          </a:p>
          <a:p>
            <a:r>
              <a:rPr lang="en-US" sz="1400"/>
              <a:t>There are only two ways to break out of this catch-22 cycle:</a:t>
            </a:r>
          </a:p>
          <a:p>
            <a:r>
              <a:rPr lang="en-US" sz="1400"/>
              <a:t>      Method 1: get real experience</a:t>
            </a:r>
          </a:p>
          <a:p>
            <a:r>
              <a:rPr lang="en-US" sz="1400"/>
              <a:t>      Method 2: get some education - and convince that you are really excited and can do the job</a:t>
            </a:r>
          </a:p>
          <a:p>
            <a:endParaRPr lang="en-US" sz="1400"/>
          </a:p>
          <a:p>
            <a:r>
              <a:rPr lang="en-US" sz="1400"/>
              <a:t>In most cases I was using 2</a:t>
            </a:r>
            <a:r>
              <a:rPr lang="en-US" sz="1400" baseline="30000"/>
              <a:t>nd</a:t>
            </a:r>
            <a:r>
              <a:rPr lang="en-US" sz="1400"/>
              <a:t> method.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54459-278E-89C9-3219-EECDCEDAEEE2}"/>
              </a:ext>
            </a:extLst>
          </p:cNvPr>
          <p:cNvSpPr txBox="1"/>
          <p:nvPr/>
        </p:nvSpPr>
        <p:spPr>
          <a:xfrm>
            <a:off x="0" y="0"/>
            <a:ext cx="167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Catch-22</a:t>
            </a:r>
          </a:p>
        </p:txBody>
      </p:sp>
    </p:spTree>
    <p:extLst>
      <p:ext uri="{BB962C8B-B14F-4D97-AF65-F5344CB8AC3E}">
        <p14:creationId xmlns:p14="http://schemas.microsoft.com/office/powerpoint/2010/main" val="1688106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61C9E5-9CC3-3202-1EC0-CD9CBE001282}"/>
              </a:ext>
            </a:extLst>
          </p:cNvPr>
          <p:cNvSpPr txBox="1"/>
          <p:nvPr/>
        </p:nvSpPr>
        <p:spPr>
          <a:xfrm>
            <a:off x="457200" y="1212111"/>
            <a:ext cx="5256028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 had a friend who always felt that he needs to study more.</a:t>
            </a:r>
          </a:p>
          <a:p>
            <a:r>
              <a:rPr lang="en-US" sz="1400"/>
              <a:t>To get more courses, more certifications.</a:t>
            </a:r>
          </a:p>
          <a:p>
            <a:endParaRPr lang="en-US" sz="1400"/>
          </a:p>
          <a:p>
            <a:r>
              <a:rPr lang="en-US" sz="1400"/>
              <a:t>But if you don't go out and do the interviews, nothing happens.</a:t>
            </a:r>
          </a:p>
          <a:p>
            <a:endParaRPr lang="en-US" sz="1400"/>
          </a:p>
          <a:p>
            <a:r>
              <a:rPr lang="en-US" sz="1400"/>
              <a:t>Suppose you have studied for 3 months and now you are 70% ready.</a:t>
            </a:r>
          </a:p>
          <a:p>
            <a:r>
              <a:rPr lang="en-US" sz="1400"/>
              <a:t>If you study for another 3 months - you may be 75% ready.</a:t>
            </a:r>
          </a:p>
          <a:p>
            <a:r>
              <a:rPr lang="en-US" sz="1400"/>
              <a:t>But if you instead spend this time on going on interviews,</a:t>
            </a:r>
          </a:p>
          <a:p>
            <a:r>
              <a:rPr lang="en-US" sz="1400"/>
              <a:t>you would probably get a job by now.</a:t>
            </a:r>
          </a:p>
          <a:p>
            <a:endParaRPr lang="en-US" sz="1400"/>
          </a:p>
          <a:p>
            <a:r>
              <a:rPr lang="en-US" sz="1400"/>
              <a:t>More studying will increase your chances by 5%.</a:t>
            </a:r>
          </a:p>
          <a:p>
            <a:r>
              <a:rPr lang="en-US" sz="1400"/>
              <a:t>More interviewing will increase your chances by 100%.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AD1F-138E-D35F-73BC-06924B737186}"/>
              </a:ext>
            </a:extLst>
          </p:cNvPr>
          <p:cNvSpPr txBox="1"/>
          <p:nvPr/>
        </p:nvSpPr>
        <p:spPr>
          <a:xfrm>
            <a:off x="7072308" y="1212111"/>
            <a:ext cx="3965945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 knew a guy who was absolutely useless at work,</a:t>
            </a:r>
          </a:p>
          <a:p>
            <a:r>
              <a:rPr lang="en-US" sz="1400"/>
              <a:t>but he was complaining that he is not paid enough,</a:t>
            </a:r>
          </a:p>
          <a:p>
            <a:r>
              <a:rPr lang="en-US" sz="1400"/>
              <a:t>so he was constantly going on interviews.</a:t>
            </a:r>
          </a:p>
          <a:p>
            <a:endParaRPr lang="en-US" sz="1400"/>
          </a:p>
          <a:p>
            <a:r>
              <a:rPr lang="en-US" sz="1400"/>
              <a:t>Result - he was getting high-paying jobs.</a:t>
            </a:r>
          </a:p>
          <a:p>
            <a:r>
              <a:rPr lang="en-US" sz="1400"/>
              <a:t>And adding them to his resume.</a:t>
            </a:r>
          </a:p>
          <a:p>
            <a:endParaRPr lang="en-US" sz="1400"/>
          </a:p>
          <a:p>
            <a:r>
              <a:rPr lang="en-US" sz="1400"/>
              <a:t>So he was paid more than people around him.</a:t>
            </a:r>
          </a:p>
          <a:p>
            <a:r>
              <a:rPr lang="en-US" sz="1400"/>
              <a:t>But - he was useless at work, not productive.</a:t>
            </a:r>
          </a:p>
          <a:p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43121-1BFB-E590-F379-653C549DBF6C}"/>
              </a:ext>
            </a:extLst>
          </p:cNvPr>
          <p:cNvSpPr txBox="1"/>
          <p:nvPr/>
        </p:nvSpPr>
        <p:spPr>
          <a:xfrm>
            <a:off x="4369983" y="4508204"/>
            <a:ext cx="4348716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Those who study - don't get jobs.</a:t>
            </a:r>
          </a:p>
          <a:p>
            <a:endParaRPr lang="en-US" sz="1400"/>
          </a:p>
          <a:p>
            <a:r>
              <a:rPr lang="en-US" sz="1400"/>
              <a:t>Those who go on interviews - get jobs and earn more.</a:t>
            </a:r>
          </a:p>
          <a:p>
            <a:endParaRPr lang="en-US" sz="1400"/>
          </a:p>
          <a:p>
            <a:r>
              <a:rPr lang="en-US" sz="1400"/>
              <a:t>Note that once you get a job - you will learn new stuff</a:t>
            </a:r>
          </a:p>
          <a:p>
            <a:r>
              <a:rPr lang="en-US" sz="1400"/>
              <a:t>on the job while getting paid.</a:t>
            </a:r>
          </a:p>
          <a:p>
            <a:endParaRPr lang="en-US" sz="1400"/>
          </a:p>
          <a:p>
            <a:r>
              <a:rPr lang="en-US" sz="1400"/>
              <a:t>So, do not procrastinate - just get a job.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7A8C0-D185-936C-BD50-FF94E307F00A}"/>
              </a:ext>
            </a:extLst>
          </p:cNvPr>
          <p:cNvSpPr txBox="1"/>
          <p:nvPr/>
        </p:nvSpPr>
        <p:spPr>
          <a:xfrm>
            <a:off x="0" y="0"/>
            <a:ext cx="6365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Stop studying – and start interviewing</a:t>
            </a:r>
          </a:p>
        </p:txBody>
      </p:sp>
    </p:spTree>
    <p:extLst>
      <p:ext uri="{BB962C8B-B14F-4D97-AF65-F5344CB8AC3E}">
        <p14:creationId xmlns:p14="http://schemas.microsoft.com/office/powerpoint/2010/main" val="349629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3147237" y="1392865"/>
            <a:ext cx="489235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need to accept the fact that during the interview</a:t>
            </a:r>
          </a:p>
          <a:p>
            <a:r>
              <a:rPr lang="en-US" sz="1400"/>
              <a:t>there will be questions which you will not know the answers to.</a:t>
            </a:r>
          </a:p>
          <a:p>
            <a:endParaRPr lang="en-US" sz="1400"/>
          </a:p>
          <a:p>
            <a:r>
              <a:rPr lang="en-US" sz="1400"/>
              <a:t>You can never prepare for everything.</a:t>
            </a:r>
          </a:p>
          <a:p>
            <a:r>
              <a:rPr lang="en-US" sz="1400"/>
              <a:t>Never.</a:t>
            </a:r>
          </a:p>
          <a:p>
            <a:r>
              <a:rPr lang="en-US" sz="1400"/>
              <a:t>Just accept that.</a:t>
            </a:r>
          </a:p>
          <a:p>
            <a:endParaRPr lang="en-US" sz="1400"/>
          </a:p>
          <a:p>
            <a:r>
              <a:rPr lang="en-US" sz="1400"/>
              <a:t>Look at interviews as a learning experience.</a:t>
            </a:r>
          </a:p>
          <a:p>
            <a:r>
              <a:rPr lang="en-US" sz="1400"/>
              <a:t>Ask questions, take notes, write down terms,</a:t>
            </a:r>
          </a:p>
          <a:p>
            <a:r>
              <a:rPr lang="en-US" sz="1400"/>
              <a:t>then go home and google them, learn about them,</a:t>
            </a:r>
          </a:p>
          <a:p>
            <a:r>
              <a:rPr lang="en-US" sz="1400"/>
              <a:t>maybe add to your resume.</a:t>
            </a:r>
          </a:p>
          <a:p>
            <a:endParaRPr lang="en-US" sz="1400"/>
          </a:p>
          <a:p>
            <a:r>
              <a:rPr lang="en-US" sz="1400"/>
              <a:t>Going on interviews is like a free education.</a:t>
            </a:r>
          </a:p>
          <a:p>
            <a:r>
              <a:rPr lang="en-US" sz="1400"/>
              <a:t>You meet with experienced high-paid professionals</a:t>
            </a:r>
          </a:p>
          <a:p>
            <a:r>
              <a:rPr lang="en-US" sz="1400"/>
              <a:t>who talk and ask questions about your area of interest.</a:t>
            </a:r>
          </a:p>
          <a:p>
            <a:r>
              <a:rPr lang="en-US" sz="1400" b="1">
                <a:solidFill>
                  <a:srgbClr val="FF0000"/>
                </a:solidFill>
              </a:rPr>
              <a:t>This is a great opportunity to learn from them</a:t>
            </a:r>
            <a:r>
              <a:rPr lang="en-US" sz="140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278D6-B921-3A1E-E13A-CC810685C720}"/>
              </a:ext>
            </a:extLst>
          </p:cNvPr>
          <p:cNvSpPr txBox="1"/>
          <p:nvPr/>
        </p:nvSpPr>
        <p:spPr>
          <a:xfrm>
            <a:off x="6215" y="0"/>
            <a:ext cx="4708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NOT a test,</a:t>
            </a:r>
          </a:p>
          <a:p>
            <a:r>
              <a:rPr lang="en-US" sz="2800" b="1"/>
              <a:t>but an educational session</a:t>
            </a:r>
          </a:p>
        </p:txBody>
      </p:sp>
    </p:spTree>
    <p:extLst>
      <p:ext uri="{BB962C8B-B14F-4D97-AF65-F5344CB8AC3E}">
        <p14:creationId xmlns:p14="http://schemas.microsoft.com/office/powerpoint/2010/main" val="609661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626906" y="1269417"/>
            <a:ext cx="646266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Interview is the transfer of energy.</a:t>
            </a:r>
          </a:p>
          <a:p>
            <a:endParaRPr lang="en-US" sz="1400"/>
          </a:p>
          <a:p>
            <a:r>
              <a:rPr lang="en-US" sz="1400"/>
              <a:t>You must have energy, excitement.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Your top-paying skills are NOT your technical skills, but your enthusiasm.</a:t>
            </a:r>
          </a:p>
          <a:p>
            <a:endParaRPr lang="en-US" sz="1400"/>
          </a:p>
          <a:p>
            <a:r>
              <a:rPr lang="en-US" sz="1400"/>
              <a:t>I have learned this lesson almost 20 years ago from Charly McAliley</a:t>
            </a:r>
          </a:p>
          <a:p>
            <a:r>
              <a:rPr lang="en-US" sz="1400"/>
              <a:t>He was making $300/hour when I was making $115/hour.</a:t>
            </a:r>
          </a:p>
          <a:p>
            <a:endParaRPr lang="en-US" sz="1400"/>
          </a:p>
          <a:p>
            <a:r>
              <a:rPr lang="en-US" sz="1400"/>
              <a:t>He has explained to me </a:t>
            </a:r>
            <a:r>
              <a:rPr lang="en-US" sz="1400" b="1">
                <a:solidFill>
                  <a:srgbClr val="FF0000"/>
                </a:solidFill>
              </a:rPr>
              <a:t>why he was paid much more</a:t>
            </a:r>
            <a:r>
              <a:rPr lang="en-US" sz="1400"/>
              <a:t>.</a:t>
            </a:r>
          </a:p>
          <a:p>
            <a:r>
              <a:rPr lang="en-US" sz="1400"/>
              <a:t>It was quite eye opening.</a:t>
            </a:r>
          </a:p>
          <a:p>
            <a:endParaRPr lang="en-US" sz="1400"/>
          </a:p>
          <a:p>
            <a:r>
              <a:rPr lang="en-US" sz="1400"/>
              <a:t>Same idea is explained very well in this famous book:</a:t>
            </a:r>
          </a:p>
          <a:p>
            <a:r>
              <a:rPr lang="en-US" sz="1400"/>
              <a:t>"</a:t>
            </a:r>
            <a:r>
              <a:rPr lang="en-US" sz="1400" b="1">
                <a:solidFill>
                  <a:srgbClr val="FF0000"/>
                </a:solidFill>
              </a:rPr>
              <a:t>How I Raised Myself from Failure to Success in Selling</a:t>
            </a:r>
            <a:r>
              <a:rPr lang="en-US" sz="1400"/>
              <a:t>"</a:t>
            </a:r>
          </a:p>
          <a:p>
            <a:r>
              <a:rPr lang="en-US" sz="1400"/>
              <a:t>by Frank Bettger</a:t>
            </a:r>
          </a:p>
          <a:p>
            <a:r>
              <a:rPr lang="en-US" sz="1400"/>
              <a:t>.. </a:t>
            </a:r>
            <a:r>
              <a:rPr lang="en-US" sz="1400">
                <a:hlinkClick r:id="rId2"/>
              </a:rPr>
              <a:t>https://www.amazon.com/Raised-Myself-Failure-Success-Selling/dp/067179437X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F29D9E-F818-C090-7B86-DD129D0DAA0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10204" y="1493578"/>
            <a:ext cx="2122871" cy="2461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07191-A7F9-84F3-B8F5-5B258E202D33}"/>
              </a:ext>
            </a:extLst>
          </p:cNvPr>
          <p:cNvSpPr txBox="1"/>
          <p:nvPr/>
        </p:nvSpPr>
        <p:spPr>
          <a:xfrm>
            <a:off x="7868094" y="3955311"/>
            <a:ext cx="40687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/>
              <a:t>                 Charly McAliley</a:t>
            </a:r>
          </a:p>
          <a:p>
            <a:r>
              <a:rPr lang="en-US" sz="1100"/>
              <a:t> - </a:t>
            </a:r>
            <a:r>
              <a:rPr lang="en-US" sz="1100">
                <a:hlinkClick r:id="rId4"/>
              </a:rPr>
              <a:t>https://www.legacy.com/us/obituaries/atlanta/name/charles-mcaliley-obituary?n=charles-mcaliley&amp;pid=86229824</a:t>
            </a:r>
            <a:endParaRPr lang="en-US" sz="1100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E63AC-F9B6-588D-6E5F-A712D702CA6F}"/>
              </a:ext>
            </a:extLst>
          </p:cNvPr>
          <p:cNvSpPr txBox="1"/>
          <p:nvPr/>
        </p:nvSpPr>
        <p:spPr>
          <a:xfrm>
            <a:off x="95003" y="83127"/>
            <a:ext cx="57476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the transfer of energy</a:t>
            </a:r>
          </a:p>
        </p:txBody>
      </p:sp>
    </p:spTree>
    <p:extLst>
      <p:ext uri="{BB962C8B-B14F-4D97-AF65-F5344CB8AC3E}">
        <p14:creationId xmlns:p14="http://schemas.microsoft.com/office/powerpoint/2010/main" val="2813091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2094199" y="801169"/>
            <a:ext cx="7916700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It is much easier to pass the interview for skills/technologies which is NEW.</a:t>
            </a:r>
          </a:p>
          <a:p>
            <a:endParaRPr lang="en-US" sz="1400"/>
          </a:p>
          <a:p>
            <a:r>
              <a:rPr lang="en-US" sz="1400"/>
              <a:t>The older is the technology - the stronger the competition, </a:t>
            </a:r>
          </a:p>
          <a:p>
            <a:r>
              <a:rPr lang="en-US" sz="1400"/>
              <a:t>and more detailed and difficult is the interview. </a:t>
            </a:r>
          </a:p>
          <a:p>
            <a:endParaRPr lang="en-US" sz="1400"/>
          </a:p>
          <a:p>
            <a:r>
              <a:rPr lang="en-US" sz="1400"/>
              <a:t>But for a new technology you can pass the interview </a:t>
            </a:r>
          </a:p>
          <a:p>
            <a:r>
              <a:rPr lang="en-US" sz="1400"/>
              <a:t>by simply talking in general terms.</a:t>
            </a:r>
          </a:p>
          <a:p>
            <a:endParaRPr lang="en-US" sz="1400"/>
          </a:p>
          <a:p>
            <a:r>
              <a:rPr lang="en-US" sz="1400"/>
              <a:t>Think about it.</a:t>
            </a:r>
          </a:p>
          <a:p>
            <a:r>
              <a:rPr lang="en-US" sz="1400"/>
              <a:t>Managers need a specialist in a new technology.</a:t>
            </a:r>
          </a:p>
          <a:p>
            <a:r>
              <a:rPr lang="en-US" sz="1400"/>
              <a:t>They have a problem/headache which they can not resolve themselves.</a:t>
            </a:r>
          </a:p>
          <a:p>
            <a:r>
              <a:rPr lang="en-US" sz="1400"/>
              <a:t>They don't know this technology themselves.</a:t>
            </a:r>
          </a:p>
          <a:p>
            <a:r>
              <a:rPr lang="en-US" sz="1400" b="1">
                <a:solidFill>
                  <a:srgbClr val="FF0000"/>
                </a:solidFill>
              </a:rPr>
              <a:t>And they have difficulty finding specialists.</a:t>
            </a:r>
          </a:p>
          <a:p>
            <a:endParaRPr lang="en-US" sz="1400"/>
          </a:p>
          <a:p>
            <a:r>
              <a:rPr lang="en-US" sz="1400"/>
              <a:t>Sometimes if you demonstrate that you are really excited about this new technology,</a:t>
            </a:r>
          </a:p>
          <a:p>
            <a:r>
              <a:rPr lang="en-US" sz="1400"/>
              <a:t>it is enough toget hired.</a:t>
            </a:r>
          </a:p>
          <a:p>
            <a:r>
              <a:rPr lang="en-US" sz="1400"/>
              <a:t>And if you know the basics (what it is, terminology, people, vendors, tools, use cases, ...), your chances are very high.</a:t>
            </a:r>
          </a:p>
          <a:p>
            <a:endParaRPr lang="en-US" sz="1400"/>
          </a:p>
          <a:p>
            <a:r>
              <a:rPr lang="en-US" sz="1400"/>
              <a:t>So here is the formula:</a:t>
            </a:r>
          </a:p>
          <a:p>
            <a:r>
              <a:rPr lang="en-US" sz="1400"/>
              <a:t>  - do research - find new and in high-demand skills</a:t>
            </a:r>
          </a:p>
          <a:p>
            <a:r>
              <a:rPr lang="en-US" sz="1400"/>
              <a:t>  - learn basics - terminology (dictionary), ... to be able</a:t>
            </a:r>
          </a:p>
          <a:p>
            <a:r>
              <a:rPr lang="en-US" sz="1400"/>
              <a:t>to answer basic questions. This takes 1-60 days depending on complexity.</a:t>
            </a:r>
          </a:p>
          <a:p>
            <a:endParaRPr lang="en-US" sz="1400"/>
          </a:p>
          <a:p>
            <a:r>
              <a:rPr lang="en-US" sz="1400"/>
              <a:t>This will allow you to pass the interview.</a:t>
            </a:r>
          </a:p>
          <a:p>
            <a:r>
              <a:rPr lang="en-US" sz="1400"/>
              <a:t>And then in 3 months on the job you will get real experience!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E9E851-1E4A-EE84-5DDA-193128BCB6A4}"/>
              </a:ext>
            </a:extLst>
          </p:cNvPr>
          <p:cNvSpPr txBox="1"/>
          <p:nvPr/>
        </p:nvSpPr>
        <p:spPr>
          <a:xfrm>
            <a:off x="83128" y="0"/>
            <a:ext cx="9162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It is much easier to pass the interview for </a:t>
            </a:r>
            <a:r>
              <a:rPr lang="en-US" sz="2800" b="1">
                <a:solidFill>
                  <a:srgbClr val="FF0000"/>
                </a:solidFill>
              </a:rPr>
              <a:t>new</a:t>
            </a:r>
            <a:r>
              <a:rPr lang="en-US" sz="2800" b="1"/>
              <a:t> technologies</a:t>
            </a:r>
          </a:p>
        </p:txBody>
      </p:sp>
    </p:spTree>
    <p:extLst>
      <p:ext uri="{BB962C8B-B14F-4D97-AF65-F5344CB8AC3E}">
        <p14:creationId xmlns:p14="http://schemas.microsoft.com/office/powerpoint/2010/main" val="1896240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2424222" y="1551563"/>
            <a:ext cx="6900531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Do NOT be afraid of learning new stuff.</a:t>
            </a:r>
          </a:p>
          <a:p>
            <a:endParaRPr lang="en-US" sz="1400"/>
          </a:p>
          <a:p>
            <a:r>
              <a:rPr lang="en-US" sz="1400"/>
              <a:t>Do NOT try to grow incrementally from your previous experience.</a:t>
            </a:r>
          </a:p>
          <a:p>
            <a:r>
              <a:rPr lang="en-US" sz="1400"/>
              <a:t>Rather make your research, find what is needed - and pull yourself to it.</a:t>
            </a:r>
          </a:p>
          <a:p>
            <a:endParaRPr lang="en-US" sz="1400"/>
          </a:p>
          <a:p>
            <a:r>
              <a:rPr lang="en-US" sz="1400"/>
              <a:t>Most people define themselves by their prior experience.</a:t>
            </a:r>
          </a:p>
          <a:p>
            <a:r>
              <a:rPr lang="en-US" sz="1400"/>
              <a:t>This is a huge mistake.</a:t>
            </a:r>
          </a:p>
          <a:p>
            <a:endParaRPr lang="en-US" sz="1400"/>
          </a:p>
          <a:p>
            <a:r>
              <a:rPr lang="en-US" sz="1400"/>
              <a:t>Because the progress is disruptive.</a:t>
            </a:r>
          </a:p>
          <a:p>
            <a:r>
              <a:rPr lang="en-US" sz="1400"/>
              <a:t>In order to make space for new stuff - you need to get rid of old stuff.</a:t>
            </a:r>
          </a:p>
          <a:p>
            <a:endParaRPr lang="en-US" sz="1400"/>
          </a:p>
          <a:p>
            <a:r>
              <a:rPr lang="en-US" sz="1400"/>
              <a:t>It is possible (in fact it is easy) to re-define and re-position yourself in just few months.</a:t>
            </a:r>
          </a:p>
          <a:p>
            <a:endParaRPr lang="en-US" sz="1400"/>
          </a:p>
          <a:p>
            <a:r>
              <a:rPr lang="en-US" sz="1400"/>
              <a:t>Remember - you don't need to become a true experienced specialist.</a:t>
            </a:r>
          </a:p>
          <a:p>
            <a:endParaRPr lang="en-US" sz="1400"/>
          </a:p>
          <a:p>
            <a:r>
              <a:rPr lang="en-US" sz="1400"/>
              <a:t>You just need to become a "reporter" who knows about the subject,</a:t>
            </a:r>
          </a:p>
          <a:p>
            <a:r>
              <a:rPr lang="en-US" sz="1400"/>
              <a:t>can navigate terminology, and demonstrate excitement.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38F895-A9FB-D9BA-5F6B-CE97205522DD}"/>
              </a:ext>
            </a:extLst>
          </p:cNvPr>
          <p:cNvSpPr txBox="1"/>
          <p:nvPr/>
        </p:nvSpPr>
        <p:spPr>
          <a:xfrm>
            <a:off x="118753" y="95003"/>
            <a:ext cx="7172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 can not move forward while looking back</a:t>
            </a:r>
          </a:p>
        </p:txBody>
      </p:sp>
    </p:spTree>
    <p:extLst>
      <p:ext uri="{BB962C8B-B14F-4D97-AF65-F5344CB8AC3E}">
        <p14:creationId xmlns:p14="http://schemas.microsoft.com/office/powerpoint/2010/main" val="171055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DD226-B10E-1BC2-FF21-85672A252E44}"/>
              </a:ext>
            </a:extLst>
          </p:cNvPr>
          <p:cNvSpPr txBox="1"/>
          <p:nvPr/>
        </p:nvSpPr>
        <p:spPr>
          <a:xfrm>
            <a:off x="3162795" y="1472715"/>
            <a:ext cx="5677786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Position yourself as "obvious expert" </a:t>
            </a:r>
            <a:r>
              <a:rPr lang="en-US" sz="1400"/>
              <a:t>so that people can find you.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Publish materials on your subject:</a:t>
            </a:r>
          </a:p>
          <a:p>
            <a:r>
              <a:rPr lang="en-US" sz="1400"/>
              <a:t>  - book(s), articles, posts</a:t>
            </a:r>
          </a:p>
          <a:p>
            <a:r>
              <a:rPr lang="en-US" sz="1400"/>
              <a:t>  - youtube videos, podcasts, other social media</a:t>
            </a:r>
          </a:p>
          <a:p>
            <a:r>
              <a:rPr lang="en-US" sz="1400"/>
              <a:t>  - LinkedIn posts, articles, etc.</a:t>
            </a:r>
          </a:p>
          <a:p>
            <a:r>
              <a:rPr lang="en-US" sz="1400"/>
              <a:t>  - courses</a:t>
            </a:r>
          </a:p>
          <a:p>
            <a:r>
              <a:rPr lang="en-US" sz="1400"/>
              <a:t>  - conferences (videos, abstracts)</a:t>
            </a:r>
          </a:p>
          <a:p>
            <a:r>
              <a:rPr lang="en-US" sz="1400"/>
              <a:t>  - GitHub</a:t>
            </a:r>
          </a:p>
          <a:p>
            <a:r>
              <a:rPr lang="en-US" sz="1400"/>
              <a:t>  - etc.</a:t>
            </a:r>
          </a:p>
          <a:p>
            <a:endParaRPr lang="en-US" sz="1400"/>
          </a:p>
          <a:p>
            <a:r>
              <a:rPr lang="en-US" sz="1400">
                <a:solidFill>
                  <a:srgbClr val="00B050"/>
                </a:solidFill>
              </a:rPr>
              <a:t>Most people never do that.</a:t>
            </a:r>
          </a:p>
          <a:p>
            <a:r>
              <a:rPr lang="en-US" sz="1400">
                <a:solidFill>
                  <a:srgbClr val="00B050"/>
                </a:solidFill>
              </a:rPr>
              <a:t>So by doing this you immediately put yourself in the top 0.01%</a:t>
            </a:r>
          </a:p>
          <a:p>
            <a:r>
              <a:rPr lang="en-US" sz="1400"/>
              <a:t>and way ahead of the competition.</a:t>
            </a:r>
          </a:p>
          <a:p>
            <a:r>
              <a:rPr lang="en-US" sz="1400"/>
              <a:t>(I am guilty of not doing this enough myself.)</a:t>
            </a:r>
          </a:p>
          <a:p>
            <a:endParaRPr lang="en-US" sz="1400"/>
          </a:p>
          <a:p>
            <a:r>
              <a:rPr lang="en-US" sz="1400"/>
              <a:t>Teaching others is a great way to educate yourself.</a:t>
            </a:r>
          </a:p>
          <a:p>
            <a:r>
              <a:rPr lang="en-US" sz="1400"/>
              <a:t>Become an educator, an evangelist of new stuff.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It is easier to learn new stuff together.</a:t>
            </a:r>
          </a:p>
          <a:p>
            <a:r>
              <a:rPr lang="en-US" sz="1400"/>
              <a:t>Over the years I have done it in various ways:</a:t>
            </a:r>
          </a:p>
          <a:p>
            <a:r>
              <a:rPr lang="en-US" sz="1400"/>
              <a:t> - Learning together (book reading club, courses, ... )</a:t>
            </a:r>
          </a:p>
          <a:p>
            <a:r>
              <a:rPr lang="en-US" sz="1400"/>
              <a:t> - Making presentations - and publish (website, blog, github, youtube, ...)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FF3C67-78E6-52DB-94CC-9482D0A9AB2E}"/>
              </a:ext>
            </a:extLst>
          </p:cNvPr>
          <p:cNvSpPr txBox="1"/>
          <p:nvPr/>
        </p:nvSpPr>
        <p:spPr>
          <a:xfrm>
            <a:off x="95003" y="106878"/>
            <a:ext cx="56777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 yourself by your positioning, </a:t>
            </a:r>
          </a:p>
          <a:p>
            <a:r>
              <a:rPr lang="en-US" sz="2800" b="1"/>
              <a:t>not by chasing opportunities</a:t>
            </a:r>
          </a:p>
        </p:txBody>
      </p:sp>
    </p:spTree>
    <p:extLst>
      <p:ext uri="{BB962C8B-B14F-4D97-AF65-F5344CB8AC3E}">
        <p14:creationId xmlns:p14="http://schemas.microsoft.com/office/powerpoint/2010/main" val="3666907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EA4BE2-331E-CA0F-680F-C19D885C988E}"/>
              </a:ext>
            </a:extLst>
          </p:cNvPr>
          <p:cNvSpPr txBox="1"/>
          <p:nvPr/>
        </p:nvSpPr>
        <p:spPr>
          <a:xfrm>
            <a:off x="126670" y="923629"/>
            <a:ext cx="3965189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Looking for a job is all about time management.</a:t>
            </a:r>
          </a:p>
          <a:p>
            <a:endParaRPr lang="en-US" sz="1400"/>
          </a:p>
          <a:p>
            <a:r>
              <a:rPr lang="en-US" sz="1400"/>
              <a:t>You need to create your marketing funnel.</a:t>
            </a:r>
          </a:p>
          <a:p>
            <a:r>
              <a:rPr lang="en-US" sz="1400" b="1">
                <a:solidFill>
                  <a:srgbClr val="00B0F0"/>
                </a:solidFill>
              </a:rPr>
              <a:t>  N1 people found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N2 people contacted/spoke with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N3 people submitted you for a job</a:t>
            </a:r>
          </a:p>
          <a:p>
            <a:r>
              <a:rPr lang="en-US" sz="1400">
                <a:solidFill>
                  <a:srgbClr val="00B050"/>
                </a:solidFill>
              </a:rPr>
              <a:t>  N4 companies invited you for an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N5 companies invited for a 2</a:t>
            </a:r>
            <a:r>
              <a:rPr lang="en-US" sz="1400" baseline="30000">
                <a:solidFill>
                  <a:srgbClr val="00B050"/>
                </a:solidFill>
              </a:rPr>
              <a:t>nd</a:t>
            </a:r>
            <a:r>
              <a:rPr lang="en-US" sz="1400">
                <a:solidFill>
                  <a:srgbClr val="00B050"/>
                </a:solidFill>
              </a:rPr>
              <a:t>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N6 companies gave you a job offer</a:t>
            </a:r>
          </a:p>
          <a:p>
            <a:endParaRPr lang="en-US" sz="1400"/>
          </a:p>
          <a:p>
            <a:r>
              <a:rPr lang="en-US" sz="1400"/>
              <a:t>Apparently N1 &gt;&gt; N2 &gt; N3 ... &gt; N6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Majority of your time will be spent on N1..N3</a:t>
            </a:r>
            <a:r>
              <a:rPr lang="en-US" sz="1400"/>
              <a:t> </a:t>
            </a:r>
          </a:p>
          <a:p>
            <a:endParaRPr lang="en-US" sz="1400"/>
          </a:p>
          <a:p>
            <a:r>
              <a:rPr lang="en-US" sz="1400"/>
              <a:t>You need to automate N1-N3 as much as possible (for time management).</a:t>
            </a:r>
          </a:p>
          <a:p>
            <a:endParaRPr lang="en-US" sz="1400"/>
          </a:p>
          <a:p>
            <a:r>
              <a:rPr lang="en-US" sz="1400"/>
              <a:t>Big N1 number is the key.</a:t>
            </a:r>
          </a:p>
          <a:p>
            <a:r>
              <a:rPr lang="en-US" sz="1400"/>
              <a:t>Good way to automate – increase your visibility (Linkedin Posts, YouTube videos, Medium articles, etc.). </a:t>
            </a:r>
          </a:p>
          <a:p>
            <a:r>
              <a:rPr lang="en-US" sz="1400"/>
              <a:t>If you get enough N1 traffic, then job offers will follow automatically.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5B0CC4-E913-0219-8D05-A9AD8FFB29F1}"/>
              </a:ext>
            </a:extLst>
          </p:cNvPr>
          <p:cNvSpPr txBox="1"/>
          <p:nvPr/>
        </p:nvSpPr>
        <p:spPr>
          <a:xfrm>
            <a:off x="0" y="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Looking for a job is about time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E3A884-3B89-DA81-DE60-9FC27EED63FA}"/>
              </a:ext>
            </a:extLst>
          </p:cNvPr>
          <p:cNvSpPr txBox="1"/>
          <p:nvPr/>
        </p:nvSpPr>
        <p:spPr>
          <a:xfrm>
            <a:off x="4568959" y="1551563"/>
            <a:ext cx="5525065" cy="707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N1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E8454-3144-5232-519A-F2FD6CEBBC5F}"/>
              </a:ext>
            </a:extLst>
          </p:cNvPr>
          <p:cNvSpPr txBox="1"/>
          <p:nvPr/>
        </p:nvSpPr>
        <p:spPr>
          <a:xfrm>
            <a:off x="5447371" y="2339401"/>
            <a:ext cx="376824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/>
              <a:t>N2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D58CC6-B8C8-C1B4-E010-D0ADDA571727}"/>
              </a:ext>
            </a:extLst>
          </p:cNvPr>
          <p:cNvSpPr txBox="1"/>
          <p:nvPr/>
        </p:nvSpPr>
        <p:spPr>
          <a:xfrm>
            <a:off x="6294052" y="2902032"/>
            <a:ext cx="20748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N3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DD960-53B3-533F-5EE6-3C18F8665384}"/>
              </a:ext>
            </a:extLst>
          </p:cNvPr>
          <p:cNvSpPr txBox="1"/>
          <p:nvPr/>
        </p:nvSpPr>
        <p:spPr>
          <a:xfrm>
            <a:off x="6940485" y="3350671"/>
            <a:ext cx="800978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/>
              <a:t>N4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54114F-4E0A-D9B3-685F-161FB5BFC559}"/>
              </a:ext>
            </a:extLst>
          </p:cNvPr>
          <p:cNvSpPr txBox="1"/>
          <p:nvPr/>
        </p:nvSpPr>
        <p:spPr>
          <a:xfrm>
            <a:off x="7100622" y="3737753"/>
            <a:ext cx="461739" cy="2539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b="1"/>
              <a:t>N5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4F72F7-1DEA-006E-F101-1D1027D937E7}"/>
              </a:ext>
            </a:extLst>
          </p:cNvPr>
          <p:cNvSpPr txBox="1"/>
          <p:nvPr/>
        </p:nvSpPr>
        <p:spPr>
          <a:xfrm>
            <a:off x="7169654" y="4053321"/>
            <a:ext cx="306539" cy="2154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b="1"/>
              <a:t>N6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947CA-59CC-E117-2FA5-A0C0378A20BD}"/>
              </a:ext>
            </a:extLst>
          </p:cNvPr>
          <p:cNvSpPr txBox="1"/>
          <p:nvPr/>
        </p:nvSpPr>
        <p:spPr>
          <a:xfrm>
            <a:off x="8950823" y="3504559"/>
            <a:ext cx="3114507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</a:rPr>
              <a:t>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</a:t>
            </a:r>
            <a:r>
              <a:rPr lang="en-US" sz="1200" b="1"/>
              <a:t> </a:t>
            </a:r>
            <a:r>
              <a:rPr lang="en-US" sz="1200" b="1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808734-FDEC-E125-8C1C-057FE2A77C11}"/>
              </a:ext>
            </a:extLst>
          </p:cNvPr>
          <p:cNvSpPr txBox="1"/>
          <p:nvPr/>
        </p:nvSpPr>
        <p:spPr>
          <a:xfrm>
            <a:off x="4882417" y="4598551"/>
            <a:ext cx="1638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Job Search Marketing Funnel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BEF6DB55-0358-F6E4-7B47-18FADF12B4B9}"/>
              </a:ext>
            </a:extLst>
          </p:cNvPr>
          <p:cNvSpPr/>
          <p:nvPr/>
        </p:nvSpPr>
        <p:spPr>
          <a:xfrm rot="19020802">
            <a:off x="5400053" y="3889225"/>
            <a:ext cx="985782" cy="249382"/>
          </a:xfrm>
          <a:prstGeom prst="rightArrow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98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356328" y="1007860"/>
            <a:ext cx="6198782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To look for a job is a profession in itself.</a:t>
            </a:r>
          </a:p>
          <a:p>
            <a:endParaRPr lang="en-US" sz="1400"/>
          </a:p>
          <a:p>
            <a:r>
              <a:rPr lang="en-US" sz="1400"/>
              <a:t>It is a skill that you need to learn, to educate yourself.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How many books have you read on the subject of looking for a job?</a:t>
            </a:r>
          </a:p>
          <a:p>
            <a:endParaRPr lang="en-US" sz="1400" b="1">
              <a:solidFill>
                <a:srgbClr val="FF0000"/>
              </a:solidFill>
            </a:endParaRPr>
          </a:p>
          <a:p>
            <a:r>
              <a:rPr lang="en-US" sz="1400" b="1">
                <a:solidFill>
                  <a:srgbClr val="FF0000"/>
                </a:solidFill>
              </a:rPr>
              <a:t>Have you passed any exams/tests on the subject?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F291-8C6B-87EE-80C8-D4CE9B5E3B08}"/>
              </a:ext>
            </a:extLst>
          </p:cNvPr>
          <p:cNvSpPr txBox="1"/>
          <p:nvPr/>
        </p:nvSpPr>
        <p:spPr>
          <a:xfrm>
            <a:off x="0" y="0"/>
            <a:ext cx="6911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To look for a job is a Full-Time job in itself.</a:t>
            </a:r>
          </a:p>
        </p:txBody>
      </p:sp>
      <p:pic>
        <p:nvPicPr>
          <p:cNvPr id="2050" name="Picture 2" descr="Barnes &amp; Noble banned books">
            <a:extLst>
              <a:ext uri="{FF2B5EF4-FFF2-40B4-BE49-F238E27FC236}">
                <a16:creationId xmlns:a16="http://schemas.microsoft.com/office/drawing/2014/main" id="{94FF6E12-5708-4940-D928-247D2EB65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2139" y="4323400"/>
            <a:ext cx="2966192" cy="166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BB2EA1-3698-11AD-ED9E-ABA8292DC13C}"/>
              </a:ext>
            </a:extLst>
          </p:cNvPr>
          <p:cNvSpPr txBox="1"/>
          <p:nvPr/>
        </p:nvSpPr>
        <p:spPr>
          <a:xfrm>
            <a:off x="356328" y="3068933"/>
            <a:ext cx="619878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Suppose you need to undergo a brain surgery.</a:t>
            </a:r>
          </a:p>
          <a:p>
            <a:r>
              <a:rPr lang="en-US" sz="1400"/>
              <a:t>And you find that your surgeon hasn't read even a single book about medicine.</a:t>
            </a:r>
          </a:p>
          <a:p>
            <a:r>
              <a:rPr lang="en-US" sz="1400"/>
              <a:t>Will you be willing to pay him to do a surgery on you?</a:t>
            </a:r>
          </a:p>
          <a:p>
            <a:endParaRPr lang="en-US" sz="1400"/>
          </a:p>
          <a:p>
            <a:r>
              <a:rPr lang="en-US" sz="1400"/>
              <a:t>So how can you become successful in finding jobs</a:t>
            </a:r>
          </a:p>
          <a:p>
            <a:r>
              <a:rPr lang="en-US" sz="1400"/>
              <a:t>if you haven't educated yourself in how to do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A93001-F204-3E2D-809A-443100676D80}"/>
              </a:ext>
            </a:extLst>
          </p:cNvPr>
          <p:cNvSpPr txBox="1"/>
          <p:nvPr/>
        </p:nvSpPr>
        <p:spPr>
          <a:xfrm>
            <a:off x="2530069" y="5157642"/>
            <a:ext cx="3917470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don't need to be a superhero to find a job.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All you need is to follow certain proven steps.</a:t>
            </a:r>
          </a:p>
          <a:p>
            <a:endParaRPr lang="en-US" sz="1400"/>
          </a:p>
          <a:p>
            <a:r>
              <a:rPr lang="en-US" sz="1400"/>
              <a:t>You need to know what to do.</a:t>
            </a:r>
          </a:p>
          <a:p>
            <a:r>
              <a:rPr lang="en-US" sz="1400"/>
              <a:t>You need to learn it.</a:t>
            </a:r>
          </a:p>
        </p:txBody>
      </p:sp>
      <p:pic>
        <p:nvPicPr>
          <p:cNvPr id="2052" name="Picture 4" descr="How to Become an Orthopedist">
            <a:extLst>
              <a:ext uri="{FF2B5EF4-FFF2-40B4-BE49-F238E27FC236}">
                <a16:creationId xmlns:a16="http://schemas.microsoft.com/office/drawing/2014/main" id="{A084B7C2-1160-8B2D-A794-13384658D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75120" y="1943280"/>
            <a:ext cx="2502726" cy="1668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AC792-31EB-84C0-2408-43A171A7BC46}"/>
              </a:ext>
            </a:extLst>
          </p:cNvPr>
          <p:cNvSpPr txBox="1"/>
          <p:nvPr/>
        </p:nvSpPr>
        <p:spPr>
          <a:xfrm>
            <a:off x="7688280" y="684694"/>
            <a:ext cx="39139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Searching for "job search" on amazon books returns over 10,000 results</a:t>
            </a:r>
          </a:p>
        </p:txBody>
      </p:sp>
    </p:spTree>
    <p:extLst>
      <p:ext uri="{BB962C8B-B14F-4D97-AF65-F5344CB8AC3E}">
        <p14:creationId xmlns:p14="http://schemas.microsoft.com/office/powerpoint/2010/main" val="572218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148855" y="845624"/>
            <a:ext cx="4699591" cy="49552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Just 20 years ago people used to answer ads in newspapers,</a:t>
            </a:r>
          </a:p>
          <a:p>
            <a:r>
              <a:rPr lang="en-US" sz="1400"/>
              <a:t>sending envelopes in mail, or calling employers or agents on the phone.</a:t>
            </a:r>
          </a:p>
          <a:p>
            <a:endParaRPr lang="en-US" sz="1400"/>
          </a:p>
          <a:p>
            <a:r>
              <a:rPr lang="en-US" sz="1400"/>
              <a:t>Nowadays people mostly use Internet.</a:t>
            </a:r>
          </a:p>
          <a:p>
            <a:r>
              <a:rPr lang="en-US" sz="1400"/>
              <a:t>But - there are different methods here as well.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Which methods are more effective today ?</a:t>
            </a:r>
          </a:p>
          <a:p>
            <a:endParaRPr lang="en-US" sz="1400"/>
          </a:p>
          <a:p>
            <a:r>
              <a:rPr lang="en-US" sz="1400"/>
              <a:t>I recommend this book:</a:t>
            </a:r>
          </a:p>
          <a:p>
            <a:r>
              <a:rPr lang="en-US" sz="1400" b="1">
                <a:solidFill>
                  <a:srgbClr val="FF0000"/>
                </a:solidFill>
              </a:rPr>
              <a:t>"What_Color_Is_Your_Parachute"</a:t>
            </a:r>
          </a:p>
          <a:p>
            <a:r>
              <a:rPr lang="en-US" sz="1200"/>
              <a:t>.. </a:t>
            </a:r>
            <a:r>
              <a:rPr lang="en-US" sz="1200">
                <a:hlinkClick r:id="rId2"/>
              </a:rPr>
              <a:t>https://en.wikipedia.org/wiki/What_Color_Is_Your_Parachute%3F</a:t>
            </a:r>
            <a:endParaRPr lang="en-US" sz="1200"/>
          </a:p>
          <a:p>
            <a:endParaRPr lang="en-US" sz="1400"/>
          </a:p>
          <a:p>
            <a:r>
              <a:rPr lang="en-US" sz="1400"/>
              <a:t>"It has been in print </a:t>
            </a:r>
            <a:r>
              <a:rPr lang="en-US" sz="1400" b="1">
                <a:solidFill>
                  <a:srgbClr val="FF0000"/>
                </a:solidFill>
              </a:rPr>
              <a:t>since 1970</a:t>
            </a:r>
            <a:r>
              <a:rPr lang="en-US" sz="1400"/>
              <a:t> and has been revised annually since 1975, sometimes substantially."</a:t>
            </a:r>
          </a:p>
          <a:p>
            <a:r>
              <a:rPr lang="en-US" sz="1400"/>
              <a:t>.. https://www.facebook.com/richardnbolles</a:t>
            </a:r>
          </a:p>
          <a:p>
            <a:endParaRPr lang="en-US" sz="1400"/>
          </a:p>
          <a:p>
            <a:endParaRPr lang="en-US" sz="1400"/>
          </a:p>
          <a:p>
            <a:r>
              <a:rPr lang="en-US" sz="1400"/>
              <a:t>Also you need to study marketing.</a:t>
            </a:r>
          </a:p>
          <a:p>
            <a:endParaRPr lang="en-US" sz="1400"/>
          </a:p>
          <a:p>
            <a:r>
              <a:rPr lang="en-US" sz="1400"/>
              <a:t>I recommend to follow Joe Polish:</a:t>
            </a:r>
          </a:p>
          <a:p>
            <a:r>
              <a:rPr lang="en-US" sz="1200"/>
              <a:t> - </a:t>
            </a:r>
            <a:r>
              <a:rPr lang="en-US" sz="1200">
                <a:hlinkClick r:id="rId3"/>
              </a:rPr>
              <a:t>https://ilovemarketing.com</a:t>
            </a:r>
            <a:endParaRPr lang="en-US" sz="1200"/>
          </a:p>
          <a:p>
            <a:r>
              <a:rPr lang="en-US" sz="1200"/>
              <a:t> - </a:t>
            </a:r>
            <a:r>
              <a:rPr lang="en-US" sz="1200">
                <a:hlinkClick r:id="rId4"/>
              </a:rPr>
              <a:t>https://geniusnetwork.com/giverbook/</a:t>
            </a: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0F7CE-8A20-CF39-3AD5-EEBCB2359FC2}"/>
              </a:ext>
            </a:extLst>
          </p:cNvPr>
          <p:cNvSpPr txBox="1"/>
          <p:nvPr/>
        </p:nvSpPr>
        <p:spPr>
          <a:xfrm>
            <a:off x="0" y="0"/>
            <a:ext cx="5954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The technology of finding jobs changes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6D62C0CD-F0E2-679D-B805-9669572A5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97972" y="241890"/>
            <a:ext cx="4249480" cy="3187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82339B-5B49-265A-EFC6-06710028AA30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709" y="845624"/>
            <a:ext cx="1717000" cy="2583376"/>
          </a:xfrm>
          <a:prstGeom prst="rect">
            <a:avLst/>
          </a:prstGeom>
        </p:spPr>
      </p:pic>
      <p:pic>
        <p:nvPicPr>
          <p:cNvPr id="1028" name="Picture 4" descr="Dean Jackson | Technology, Focus, and Marketing - I Love Marketing">
            <a:extLst>
              <a:ext uri="{FF2B5EF4-FFF2-40B4-BE49-F238E27FC236}">
                <a16:creationId xmlns:a16="http://schemas.microsoft.com/office/drawing/2014/main" id="{69B2B696-3D83-CD30-1B8D-A97734A6F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43084" y="4605442"/>
            <a:ext cx="3662031" cy="199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D7312A-6AE5-EA12-7AEC-8EB36E7CD68A}"/>
              </a:ext>
            </a:extLst>
          </p:cNvPr>
          <p:cNvSpPr txBox="1"/>
          <p:nvPr/>
        </p:nvSpPr>
        <p:spPr>
          <a:xfrm>
            <a:off x="8782494" y="3463223"/>
            <a:ext cx="18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1970 - present</a:t>
            </a:r>
          </a:p>
        </p:txBody>
      </p:sp>
    </p:spTree>
    <p:extLst>
      <p:ext uri="{BB962C8B-B14F-4D97-AF65-F5344CB8AC3E}">
        <p14:creationId xmlns:p14="http://schemas.microsoft.com/office/powerpoint/2010/main" val="213037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2646541" y="2164346"/>
            <a:ext cx="6198782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companies search candidates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recommend someone to HR (Human Resource), they will immediately search this person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Resume and Linkedin should correspond to each other. 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Both should contain a short </a:t>
            </a:r>
            <a:r>
              <a:rPr lang="en-US" sz="1400" b="1">
                <a:solidFill>
                  <a:srgbClr val="FF0000"/>
                </a:solidFill>
              </a:rPr>
              <a:t>summary at the top</a:t>
            </a:r>
            <a:r>
              <a:rPr lang="en-US" sz="1400"/>
              <a:t>. Spend 90% of your effort on this top summary. Because nobody reads the whole resume or Linkedin profile. But people read the top (summary). So spend most of your attention on the </a:t>
            </a:r>
            <a:r>
              <a:rPr lang="en-US" sz="1400" b="1">
                <a:solidFill>
                  <a:srgbClr val="FF0000"/>
                </a:solidFill>
              </a:rPr>
              <a:t>title and summary</a:t>
            </a:r>
            <a:r>
              <a:rPr lang="en-US" sz="1400"/>
              <a:t>. This is your positionning.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0F9FA-A810-0E65-BB1C-4B5B6E0C0CA4}"/>
              </a:ext>
            </a:extLst>
          </p:cNvPr>
          <p:cNvSpPr txBox="1"/>
          <p:nvPr/>
        </p:nvSpPr>
        <p:spPr>
          <a:xfrm>
            <a:off x="-1" y="0"/>
            <a:ext cx="6315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Your Resume and Your Linkedin Profile</a:t>
            </a:r>
          </a:p>
        </p:txBody>
      </p:sp>
    </p:spTree>
    <p:extLst>
      <p:ext uri="{BB962C8B-B14F-4D97-AF65-F5344CB8AC3E}">
        <p14:creationId xmlns:p14="http://schemas.microsoft.com/office/powerpoint/2010/main" val="1720866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C18C33-D356-5E24-3B80-1AA3390A161B}"/>
              </a:ext>
            </a:extLst>
          </p:cNvPr>
          <p:cNvSpPr txBox="1"/>
          <p:nvPr/>
        </p:nvSpPr>
        <p:spPr>
          <a:xfrm>
            <a:off x="596344" y="1134438"/>
            <a:ext cx="4851852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Give yourself a title that corresponds </a:t>
            </a:r>
          </a:p>
          <a:p>
            <a:r>
              <a:rPr lang="en-US" sz="1400" b="1">
                <a:solidFill>
                  <a:srgbClr val="FF0000"/>
                </a:solidFill>
              </a:rPr>
              <a:t>to what you want to become.</a:t>
            </a:r>
          </a:p>
          <a:p>
            <a:endParaRPr lang="en-US" sz="1400"/>
          </a:p>
          <a:p>
            <a:r>
              <a:rPr lang="en-US" sz="1400"/>
              <a:t>For example, if you are looking for a position of a Data Scientist,</a:t>
            </a:r>
          </a:p>
          <a:p>
            <a:r>
              <a:rPr lang="en-US" sz="1400" b="1">
                <a:solidFill>
                  <a:srgbClr val="FF0000"/>
                </a:solidFill>
              </a:rPr>
              <a:t>name yourself as a Data Scientist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Once you start talking about yourself as a Data Scientist,</a:t>
            </a:r>
          </a:p>
          <a:p>
            <a:r>
              <a:rPr lang="en-US" sz="1400"/>
              <a:t>your outlook changes, your confidence increases, etc.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512DF-3B9E-7F8C-9DD2-5F49FE8B2E98}"/>
              </a:ext>
            </a:extLst>
          </p:cNvPr>
          <p:cNvSpPr txBox="1"/>
          <p:nvPr/>
        </p:nvSpPr>
        <p:spPr>
          <a:xfrm>
            <a:off x="0" y="0"/>
            <a:ext cx="3753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Self-fulfilling prophecy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17C0F-4660-C8F3-A09D-0842F6B0BBD1}"/>
              </a:ext>
            </a:extLst>
          </p:cNvPr>
          <p:cNvSpPr txBox="1"/>
          <p:nvPr/>
        </p:nvSpPr>
        <p:spPr>
          <a:xfrm>
            <a:off x="6096000" y="1870707"/>
            <a:ext cx="549965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Convince yourself that you are a Data Scientist.</a:t>
            </a:r>
          </a:p>
          <a:p>
            <a:endParaRPr lang="en-US" sz="1400"/>
          </a:p>
          <a:p>
            <a:r>
              <a:rPr lang="en-US" sz="1400"/>
              <a:t>What does it mean to be a Data Scientist ?</a:t>
            </a:r>
          </a:p>
          <a:p>
            <a:endParaRPr lang="en-US" sz="1400"/>
          </a:p>
          <a:p>
            <a:r>
              <a:rPr lang="en-US" sz="1400"/>
              <a:t>It doesn't mean to go to college and get a degree.</a:t>
            </a:r>
          </a:p>
          <a:p>
            <a:r>
              <a:rPr lang="en-US" sz="1400"/>
              <a:t>It simply means that you can do what average Data Scientists are doing.</a:t>
            </a:r>
          </a:p>
          <a:p>
            <a:endParaRPr lang="en-US" sz="1400"/>
          </a:p>
          <a:p>
            <a:r>
              <a:rPr lang="en-US" sz="1400"/>
              <a:t>A minimalistic definition - you need to know how to:</a:t>
            </a:r>
          </a:p>
          <a:p>
            <a:r>
              <a:rPr lang="en-US" sz="1400"/>
              <a:t>  - get data - SQL or from CSV file</a:t>
            </a:r>
          </a:p>
          <a:p>
            <a:r>
              <a:rPr lang="en-US" sz="1400"/>
              <a:t>  - explore data (Excel, Jupyter notebook, etc.)</a:t>
            </a:r>
          </a:p>
          <a:p>
            <a:r>
              <a:rPr lang="en-US" sz="1400"/>
              <a:t>  - run some simple model (Linear Regression)</a:t>
            </a:r>
          </a:p>
          <a:p>
            <a:r>
              <a:rPr lang="en-US" sz="1400"/>
              <a:t>  - evaluate model quality (accuracy, confusion matrix, precision, </a:t>
            </a:r>
          </a:p>
          <a:p>
            <a:r>
              <a:rPr lang="en-US" sz="1400"/>
              <a:t>    recall, ROC curve, etc.)</a:t>
            </a:r>
          </a:p>
          <a:p>
            <a:r>
              <a:rPr lang="en-US" sz="1400"/>
              <a:t>  - make PowerPoint presentation</a:t>
            </a:r>
          </a:p>
          <a:p>
            <a:endParaRPr lang="en-US" sz="1400"/>
          </a:p>
          <a:p>
            <a:r>
              <a:rPr lang="en-US" sz="1400"/>
              <a:t>There are multiple projects on Github, Medium, etc.</a:t>
            </a:r>
          </a:p>
          <a:p>
            <a:r>
              <a:rPr lang="en-US" sz="1400"/>
              <a:t>Take one of them, reproduce step-by-step.</a:t>
            </a:r>
          </a:p>
          <a:p>
            <a:endParaRPr lang="en-US" sz="1400"/>
          </a:p>
          <a:p>
            <a:r>
              <a:rPr lang="en-US" sz="1400"/>
              <a:t>Done.</a:t>
            </a:r>
          </a:p>
          <a:p>
            <a:r>
              <a:rPr lang="en-US" sz="1400"/>
              <a:t>You are a minimalistic Data Scientist.</a:t>
            </a:r>
          </a:p>
        </p:txBody>
      </p:sp>
    </p:spTree>
    <p:extLst>
      <p:ext uri="{BB962C8B-B14F-4D97-AF65-F5344CB8AC3E}">
        <p14:creationId xmlns:p14="http://schemas.microsoft.com/office/powerpoint/2010/main" val="3059458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DE524-95E1-8CAC-0C99-A86AE43EEBFD}"/>
              </a:ext>
            </a:extLst>
          </p:cNvPr>
          <p:cNvSpPr txBox="1"/>
          <p:nvPr/>
        </p:nvSpPr>
        <p:spPr>
          <a:xfrm>
            <a:off x="3502117" y="1841090"/>
            <a:ext cx="4433777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Get recommendations for your Linkedin profile.</a:t>
            </a:r>
          </a:p>
          <a:p>
            <a:r>
              <a:rPr lang="en-US" sz="1400"/>
              <a:t>At least 5-10, but 40-50 is better.</a:t>
            </a:r>
          </a:p>
          <a:p>
            <a:endParaRPr lang="en-US" sz="1400"/>
          </a:p>
          <a:p>
            <a:r>
              <a:rPr lang="en-US" sz="1400"/>
              <a:t>People trust when they see positive reviews (recommendations).</a:t>
            </a:r>
          </a:p>
          <a:p>
            <a:endParaRPr lang="en-US" sz="1400"/>
          </a:p>
          <a:p>
            <a:r>
              <a:rPr lang="en-US" sz="1400"/>
              <a:t>This is similar to a trust people experience when</a:t>
            </a:r>
          </a:p>
          <a:p>
            <a:r>
              <a:rPr lang="en-US" sz="1400"/>
              <a:t>they see positive 5-star reviews on amazon.</a:t>
            </a:r>
          </a:p>
          <a:p>
            <a:endParaRPr lang="en-US" sz="1400"/>
          </a:p>
          <a:p>
            <a:r>
              <a:rPr lang="en-US" sz="1400"/>
              <a:t>So - present yourself as a 5-stars "product" using recommendations.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5842-31B3-F740-459C-D71D75065DD1}"/>
              </a:ext>
            </a:extLst>
          </p:cNvPr>
          <p:cNvSpPr txBox="1"/>
          <p:nvPr/>
        </p:nvSpPr>
        <p:spPr>
          <a:xfrm>
            <a:off x="0" y="0"/>
            <a:ext cx="74220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Get recommendations for your Linkedin profile</a:t>
            </a:r>
          </a:p>
        </p:txBody>
      </p:sp>
    </p:spTree>
    <p:extLst>
      <p:ext uri="{BB962C8B-B14F-4D97-AF65-F5344CB8AC3E}">
        <p14:creationId xmlns:p14="http://schemas.microsoft.com/office/powerpoint/2010/main" val="1929382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2395</TotalTime>
  <Words>2822</Words>
  <Application>Microsoft Macintosh PowerPoint</Application>
  <PresentationFormat>Widescreen</PresentationFormat>
  <Paragraphs>310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211</cp:revision>
  <dcterms:created xsi:type="dcterms:W3CDTF">2021-08-13T19:21:10Z</dcterms:created>
  <dcterms:modified xsi:type="dcterms:W3CDTF">2022-09-19T13:55:27Z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